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WHAT AM I DOING?</a:t>
            </a:r>
          </a:p>
          <a:p>
            <a:r>
              <a:t>"I'm building a custom chip that takes any photo and compresses it down to just 16 colors — by grouping similar pixels together. Think of the Bliss photo on the right — that's the original, and that's what it looks like with only 16 colors."</a:t>
            </a:r>
          </a:p>
          <a:p/>
          <a:p>
            <a:r>
              <a:t>HOW IS IT DONE TODAY?</a:t>
            </a:r>
          </a:p>
          <a:p>
            <a:r>
              <a:t>"Right now this runs on a regular CPU and takes about 9 seconds per image — but the CPU is barely doing any work. Less than 1% of its computing power is being used. The bottleneck is memory — the CPU spends almost half its time just waiting for data to load."</a:t>
            </a:r>
          </a:p>
          <a:p/>
          <a:p>
            <a:r>
              <a:t>WHAT AM I DOING DIFFERENTLY?</a:t>
            </a:r>
          </a:p>
          <a:p>
            <a:r>
              <a:t>"Instead of a CPU, I'm designing a chip where the memory and the math units sit right next to each other — so there's no waiting. You can see that in the roofline plot — on the CPU the kernel sits way down in the memory-bound zone, but on my accelerator it flips to compute-bound. That's where the 62x speedup comes from."</a:t>
            </a:r>
          </a:p>
          <a:p/>
          <a:p>
            <a:r>
              <a:t>WHAT HAVE I DONE SO FAR?</a:t>
            </a:r>
          </a:p>
          <a:p>
            <a:r>
              <a:t>"I've measured the CPU baseline, confirmed where the bottleneck is, and written all the hardware — the distance engine, the memory interface, and the compute core — all passing simulation."</a:t>
            </a:r>
          </a:p>
          <a:p/>
          <a:p>
            <a:r>
              <a:t>WHAT'S NEXT?</a:t>
            </a:r>
          </a:p>
          <a:p>
            <a:r>
              <a:t>"I need to connect all the pieces into a full system, verify timing, and then measure actual throughput to prove the speedup is real."</a:t>
            </a:r>
          </a:p>
          <a:p/>
          <a:p>
            <a:r>
              <a:t>---</a:t>
            </a:r>
          </a:p>
          <a:p>
            <a:r>
              <a:t>TIP: Linger on the Bliss before/after when you first show it — it's your best visual hook.</a:t>
            </a:r>
          </a:p>
          <a:p>
            <a:r>
              <a:t>Total target: ~60 seconds.</a:t>
            </a:r>
          </a:p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566928"/>
          </a:xfrm>
          <a:prstGeom prst="rect">
            <a:avLst/>
          </a:prstGeom>
          <a:solidFill>
            <a:srgbClr val="0F1E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" y="54864"/>
            <a:ext cx="8229600" cy="4754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900" b="1">
                <a:solidFill>
                  <a:srgbClr val="FFFFFF"/>
                </a:solidFill>
              </a:rPr>
              <a:t>K-Means Image Color Quantization Accelerator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0" y="91440"/>
            <a:ext cx="3657600" cy="4023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900" b="0">
                <a:solidFill>
                  <a:srgbClr val="AABBCC"/>
                </a:solidFill>
              </a:rPr>
              <a:t>Bao Nguyen  |  ECE 410/510  |  Spring 2026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" y="640080"/>
            <a:ext cx="1234440" cy="685800"/>
          </a:xfrm>
          <a:prstGeom prst="rect">
            <a:avLst/>
          </a:prstGeom>
          <a:solidFill>
            <a:srgbClr val="C039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" y="640080"/>
            <a:ext cx="12344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FFFFF"/>
                </a:solidFill>
              </a:rPr>
              <a:t>62×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" y="1042415"/>
            <a:ext cx="12344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>
                <a:solidFill>
                  <a:srgbClr val="FFDCDC"/>
                </a:solidFill>
              </a:rPr>
              <a:t>projected speedup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" y="1417319"/>
            <a:ext cx="260604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900" b="1">
                <a:solidFill>
                  <a:srgbClr val="4FC3F7"/>
                </a:solidFill>
              </a:rPr>
              <a:t>What am I doing?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Custom chip: reduces any photo to 16 colors by grouping similar pixels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4FC3F7"/>
                </a:solidFill>
              </a:rPr>
              <a:t>How is it done today?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CPU takes ~9 sec/image using &lt;1% of its power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46% of runtime spent waiting for data from memory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4FC3F7"/>
                </a:solidFill>
              </a:rPr>
              <a:t>What am I doing differently?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Memory &amp; math sit side-by-side — no waiting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16 TB/s bandwidth → ~62× speedup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4FC3F7"/>
                </a:solidFill>
              </a:rPr>
              <a:t>Accomplished so far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Benchmarked CPU baseline, found bottleneck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Distance engine, AXI4-Lite &amp; compute core all passing sim</a:t>
            </a:r>
          </a:p>
          <a:p>
            <a:pPr>
              <a:spcBef>
                <a:spcPts val="600"/>
              </a:spcBef>
            </a:pPr>
            <a:r>
              <a:rPr sz="900" b="1">
                <a:solidFill>
                  <a:srgbClr val="4FC3F7"/>
                </a:solidFill>
              </a:rPr>
              <a:t>What's next?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Full system integration + timing verification</a:t>
            </a:r>
          </a:p>
          <a:p>
            <a:pPr>
              <a:spcBef>
                <a:spcPts val="100"/>
              </a:spcBef>
            </a:pPr>
            <a:r>
              <a:rPr sz="800" b="0">
                <a:solidFill>
                  <a:srgbClr val="DDDDDD"/>
                </a:solidFill>
              </a:rPr>
              <a:t>  • Compare vs 9-sec baseline → declare success</a:t>
            </a:r>
          </a:p>
        </p:txBody>
      </p:sp>
      <p:sp>
        <p:nvSpPr>
          <p:cNvPr id="9" name="Rectangle 8"/>
          <p:cNvSpPr/>
          <p:nvPr/>
        </p:nvSpPr>
        <p:spPr>
          <a:xfrm>
            <a:off x="2926080" y="640080"/>
            <a:ext cx="3628218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980944" y="658368"/>
            <a:ext cx="351849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FC3F7"/>
                </a:solidFill>
              </a:rPr>
              <a:t>Roofline — CPU vs PIM Accelerator</a:t>
            </a:r>
          </a:p>
        </p:txBody>
      </p:sp>
      <p:pic>
        <p:nvPicPr>
          <p:cNvPr id="11" name="Picture 10" descr="roofline_proje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26080" y="850392"/>
            <a:ext cx="3628218" cy="2286000"/>
          </a:xfrm>
          <a:prstGeom prst="rect">
            <a:avLst/>
          </a:prstGeom>
        </p:spPr>
      </p:pic>
      <p:sp>
        <p:nvSpPr>
          <p:cNvPr id="12" name="Rectangle 11"/>
          <p:cNvSpPr/>
          <p:nvPr/>
        </p:nvSpPr>
        <p:spPr>
          <a:xfrm>
            <a:off x="6682314" y="640080"/>
            <a:ext cx="460513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37178" y="658368"/>
            <a:ext cx="449540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FC3F7"/>
                </a:solidFill>
              </a:rPr>
              <a:t>System Architecture</a:t>
            </a:r>
          </a:p>
        </p:txBody>
      </p:sp>
      <p:pic>
        <p:nvPicPr>
          <p:cNvPr id="14" name="Picture 13" descr="system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82314" y="850392"/>
            <a:ext cx="4605130" cy="2286000"/>
          </a:xfrm>
          <a:prstGeom prst="rect">
            <a:avLst/>
          </a:prstGeom>
        </p:spPr>
      </p:pic>
      <p:sp>
        <p:nvSpPr>
          <p:cNvPr id="15" name="Rectangle 14"/>
          <p:cNvSpPr/>
          <p:nvPr/>
        </p:nvSpPr>
        <p:spPr>
          <a:xfrm>
            <a:off x="2926080" y="3337560"/>
            <a:ext cx="8017740" cy="201168"/>
          </a:xfrm>
          <a:prstGeom prst="rect">
            <a:avLst/>
          </a:prstGeom>
          <a:solidFill>
            <a:srgbClr val="0D3B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980944" y="3355848"/>
            <a:ext cx="7908012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>
                <a:solidFill>
                  <a:srgbClr val="4FC3F7"/>
                </a:solidFill>
              </a:rPr>
              <a:t>Bliss.jpg — Original (left) vs K-Means K=16 colors (right)</a:t>
            </a:r>
          </a:p>
        </p:txBody>
      </p:sp>
      <p:pic>
        <p:nvPicPr>
          <p:cNvPr id="17" name="Picture 16" descr="bliss_before_aft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26080" y="3547872"/>
            <a:ext cx="8017740" cy="323697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