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B1B990C-FB7A-447D-BA1C-4A93895353B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AM I DOING?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HOW IS IT DONE TODAY?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AM I DOING DIFFERENTLY?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HAVE I DONE SO FAR?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"I've measured the CPU baseline, confirmed where the bottleneck is, and written all the hardware — the distance engine, the memory interface, and the compute core — all passing simulation."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WHAT'S NEXT?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"I need to connect all the pieces into a full system, verify timing, and then measure actual throughput to prove the speedup is real."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---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TIP: Linger on the Bliss before/after when you first show it — it's your best visual hook.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Total target: ~60 seconds.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---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DEFINITIONS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29AF4A5-9729-4177-B6D7-FBE636F4E25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97E2144-28F4-4CE1-A174-882D3AA2AC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2897F4A-5BAA-4198-815D-DA58292EB2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FF875DC-0F95-4D06-B6A5-8F30705705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8F0D0F9-C6E1-4136-B620-EB8A7F2C0B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242FE48-7FD7-4C8D-B9B3-0BCBF76A9E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A4D03FF-A2AE-451D-AB0B-7ED9E2A9CF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DD35B66-018E-45BC-99F4-5954D8F8649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A50D97C-197E-4268-98C6-DEAA6FE925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3C0A449-5795-4F15-9396-03754C1BF2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53141B6-28B9-4A1F-B704-618E1EA0AF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E5C1226C-DA2A-4629-9F74-193A086DF6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13444E-C275-4545-8DC9-324952AD7DF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4BFE80-A0CF-4026-AA94-66E6BD73C94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D47953-6CA5-44C2-9C67-8488BBAF798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9C7D35-C2BC-4EF7-9276-118F4BFD571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EDFC2E-5C53-46A3-86CE-EAF7DDDAE89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54A078B-B980-4886-B245-5AE505B61E5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0E4EAB-1112-44C5-935E-52CB72FBF6C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C732FA-3E87-48FF-BD01-A8D28A0A44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93A990-5F0E-4387-86C8-86965E7375D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69C1DF-7FE2-48BA-AC65-72A4DC23CD5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8C7D9E-079A-4A37-B0E0-9599B990037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88520" cy="566640"/>
          </a:xfrm>
          <a:prstGeom prst="rect">
            <a:avLst/>
          </a:prstGeom>
          <a:solidFill>
            <a:srgbClr val="0f1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137160" y="54720"/>
            <a:ext cx="8229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Calibri"/>
              </a:rPr>
              <a:t>K-Means Image Color Quantization Accelerator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8412480" y="91440"/>
            <a:ext cx="3657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bbcc"/>
                </a:solidFill>
                <a:latin typeface="Calibri"/>
              </a:rPr>
              <a:t>Bao Nguyen  |  ECE 410/510  |  Spring 2026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Rectangle 4"/>
          <p:cNvSpPr/>
          <p:nvPr/>
        </p:nvSpPr>
        <p:spPr>
          <a:xfrm>
            <a:off x="137160" y="640080"/>
            <a:ext cx="1234080" cy="68544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137160" y="640080"/>
            <a:ext cx="12340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62×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137160" y="1042560"/>
            <a:ext cx="12340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ffdcdc"/>
                </a:solidFill>
                <a:latin typeface="Calibri"/>
              </a:rPr>
              <a:t>projected speedup</a:t>
            </a:r>
            <a:endParaRPr b="0" lang="en-US" sz="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137160" y="1417320"/>
            <a:ext cx="2605680" cy="50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What am I doing?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Custom AI Chiplet: Performs "Image Quantization" to reduce any photo to 16 optimized colors.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Unsupervised Learning: Accelerates the K-Means clustering algorithm to group similar pixels autonomously.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Centroid-Based Math: Uses a custom engine to find the closest "color center" (centroid) for every pixel.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How is it done today?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CPU: scikit-learn + OpenBLAS — ~9 sec/image, &lt;1% utilization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GPU: NVIDIA cuML / CUDA — fast but general-purpose, not K-Means specific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FPGA: AMD Artix-7 pipelined designs — rigid, device-specific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No dedicated near-memory chiplet for K-Means quantization with HBM3 + UCIe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What am I doing differently?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Memory &amp; Math Side-by-Side: Avoids the "Von Neumann bottleneck" by eliminating data travel time.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Massive Parallelism: Utilizing HBM3 to feed the Distance Engine, evaluating all 16 centroids simultaneously without memory starvation.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Shift to Compute-Bound: 16 TB/s bandwidth → ~62x speedup by ensuring the math units never sit idle.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Accomplished so far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Benchmarked CPU Baseline: Confirmed the 9-second bottleneck where the CPU sits idle waiting for RAM.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Hardware Logic Verified: Distance engine and AXI4-Lite control interface passing simulation.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Interconnect: UCIe selected as the high-speed host interface to the computer.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b="1" lang="en-US" sz="900" spc="-1" strike="noStrike">
                <a:solidFill>
                  <a:srgbClr val="4fc3f7"/>
                </a:solidFill>
                <a:latin typeface="Calibri"/>
              </a:rPr>
              <a:t>What's next?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Full system integration and timing verification across the chiplet.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99"/>
              </a:spcBef>
            </a:pP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  • </a:t>
            </a:r>
            <a:r>
              <a:rPr b="0" lang="en-US" sz="800" spc="-1" strike="noStrike">
                <a:solidFill>
                  <a:srgbClr val="dddddd"/>
                </a:solidFill>
                <a:latin typeface="Calibri"/>
              </a:rPr>
              <a:t>Final Performance Testing: Compare actual throughput vs. the 9-sec baseline to declare success.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Rectangle 8"/>
          <p:cNvSpPr/>
          <p:nvPr/>
        </p:nvSpPr>
        <p:spPr>
          <a:xfrm>
            <a:off x="2926080" y="640080"/>
            <a:ext cx="362772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2980800" y="658440"/>
            <a:ext cx="351828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4fc3f7"/>
                </a:solidFill>
                <a:latin typeface="Calibri"/>
              </a:rPr>
              <a:t>Roofline — CPU vs PIM Accelerator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" name="Picture 10" descr="roofline_project.png"/>
          <p:cNvPicPr/>
          <p:nvPr/>
        </p:nvPicPr>
        <p:blipFill>
          <a:blip r:embed="rId1"/>
          <a:stretch/>
        </p:blipFill>
        <p:spPr>
          <a:xfrm>
            <a:off x="2926080" y="850320"/>
            <a:ext cx="3627720" cy="22856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1"/>
          <p:cNvSpPr/>
          <p:nvPr/>
        </p:nvSpPr>
        <p:spPr>
          <a:xfrm>
            <a:off x="6682320" y="640080"/>
            <a:ext cx="460476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6737040" y="658440"/>
            <a:ext cx="449496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4fc3f7"/>
                </a:solidFill>
                <a:latin typeface="Calibri"/>
              </a:rPr>
              <a:t>System Architecture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13" descr="system_diagram.png"/>
          <p:cNvPicPr/>
          <p:nvPr/>
        </p:nvPicPr>
        <p:blipFill>
          <a:blip r:embed="rId2"/>
          <a:stretch/>
        </p:blipFill>
        <p:spPr>
          <a:xfrm>
            <a:off x="6682320" y="850320"/>
            <a:ext cx="4604760" cy="2285640"/>
          </a:xfrm>
          <a:prstGeom prst="rect">
            <a:avLst/>
          </a:prstGeom>
          <a:ln w="0">
            <a:noFill/>
          </a:ln>
        </p:spPr>
      </p:pic>
      <p:sp>
        <p:nvSpPr>
          <p:cNvPr id="86" name="Rectangle 14"/>
          <p:cNvSpPr/>
          <p:nvPr/>
        </p:nvSpPr>
        <p:spPr>
          <a:xfrm>
            <a:off x="2926080" y="3337560"/>
            <a:ext cx="801756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15"/>
          <p:cNvSpPr/>
          <p:nvPr/>
        </p:nvSpPr>
        <p:spPr>
          <a:xfrm>
            <a:off x="2980800" y="3355920"/>
            <a:ext cx="790776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4fc3f7"/>
                </a:solidFill>
                <a:latin typeface="Calibri"/>
              </a:rPr>
              <a:t>Bliss.jpg — Original (left) vs K-Means K=16 colors (right)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8" name="Picture 16" descr="bliss_before_after.png"/>
          <p:cNvPicPr/>
          <p:nvPr/>
        </p:nvPicPr>
        <p:blipFill>
          <a:blip r:embed="rId3"/>
          <a:stretch/>
        </p:blipFill>
        <p:spPr>
          <a:xfrm>
            <a:off x="2926080" y="3547800"/>
            <a:ext cx="8017560" cy="3236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2026-04-27T16:20:56Z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