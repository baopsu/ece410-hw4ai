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8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9.xml"/>
  <Override ContentType="application/vnd.openxmlformats-officedocument.presentationml.slideMaster+xml" PartName="/ppt/slideMasters/slideMaster11.xml"/>
  <Override ContentType="application/vnd.openxmlformats-officedocument.presentationml.slideMaster+xml" PartName="/ppt/slideMasters/slideMaster10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Master+xml" PartName="/ppt/slideMasters/slideMaster7.xml"/>
  <Override ContentType="application/vnd.openxmlformats-officedocument.presentationml.slideMaster+xml" PartName="/ppt/slideMasters/slideMaster6.xml"/>
  <Override ContentType="application/vnd.openxmlformats-officedocument.presentationml.slideMaster+xml" PartName="/ppt/slideMasters/slideMaster5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7.xml"/>
  <Override ContentType="application/vnd.openxmlformats-officedocument.theme+xml" PartName="/ppt/theme/theme6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11.xml"/>
  <Override ContentType="application/vnd.openxmlformats-officedocument.theme+xml" PartName="/ppt/theme/theme5.xml"/>
  <Override ContentType="application/vnd.openxmlformats-officedocument.theme+xml" PartName="/ppt/theme/theme8.xml"/>
  <Override ContentType="application/vnd.openxmlformats-officedocument.theme+xml" PartName="/ppt/theme/theme10.xml"/>
  <Override ContentType="application/vnd.openxmlformats-officedocument.theme+xml" PartName="/ppt/theme/theme12.xml"/>
  <Override ContentType="application/vnd.openxmlformats-officedocument.theme+xml" PartName="/ppt/theme/theme9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  <p:sldMasterId id="2147483650" r:id="rId4"/>
    <p:sldMasterId id="2147483652" r:id="rId5"/>
    <p:sldMasterId id="2147483654" r:id="rId6"/>
    <p:sldMasterId id="2147483656" r:id="rId7"/>
    <p:sldMasterId id="2147483658" r:id="rId8"/>
    <p:sldMasterId id="2147483660" r:id="rId9"/>
    <p:sldMasterId id="2147483662" r:id="rId10"/>
    <p:sldMasterId id="2147483664" r:id="rId11"/>
    <p:sldMasterId id="2147483666" r:id="rId12"/>
    <p:sldMasterId id="2147483668" r:id="rId13"/>
  </p:sldMasterIdLst>
  <p:notesMasterIdLst>
    <p:notesMasterId r:id="rId14"/>
  </p:notesMasterIdLst>
  <p:sldIdLst>
    <p:sldId id="256" r:id="rId15"/>
  </p:sldIdLst>
  <p:sldSz cy="6858000" cx="121888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6" roundtripDataSignature="AMtx7mg8Jty2Sf07b+SQ0N9/glMuCE+j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Master" Target="slideMasters/slideMaster9.xml"/><Relationship Id="rId10" Type="http://schemas.openxmlformats.org/officeDocument/2006/relationships/slideMaster" Target="slideMasters/slideMaster8.xml"/><Relationship Id="rId13" Type="http://schemas.openxmlformats.org/officeDocument/2006/relationships/slideMaster" Target="slideMasters/slideMaster11.xml"/><Relationship Id="rId12" Type="http://schemas.openxmlformats.org/officeDocument/2006/relationships/slideMaster" Target="slideMasters/slideMaster10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9" Type="http://schemas.openxmlformats.org/officeDocument/2006/relationships/slideMaster" Target="slideMasters/slideMaster7.xml"/><Relationship Id="rId15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6" Type="http://customschemas.google.com/relationships/presentationmetadata" Target="metadata"/><Relationship Id="rId5" Type="http://schemas.openxmlformats.org/officeDocument/2006/relationships/slideMaster" Target="slideMasters/slideMaster3.xml"/><Relationship Id="rId6" Type="http://schemas.openxmlformats.org/officeDocument/2006/relationships/slideMaster" Target="slideMasters/slideMaster4.xml"/><Relationship Id="rId7" Type="http://schemas.openxmlformats.org/officeDocument/2006/relationships/slideMaster" Target="slideMasters/slideMaster5.xml"/><Relationship Id="rId8" Type="http://schemas.openxmlformats.org/officeDocument/2006/relationships/slideMaster" Target="slideMasters/slideMaster6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0" y="812520"/>
            <a:ext cx="0" cy="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 txBox="1"/>
          <p:nvPr>
            <p:ph idx="3"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" name="Google Shape;6;n"/>
          <p:cNvSpPr txBox="1"/>
          <p:nvPr>
            <p:ph idx="10"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</a:pPr>
            <a:fld id="{00000000-1234-1234-1234-123412341234}" type="slidenum">
              <a:rPr b="0" i="0" lang="en-US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:notes"/>
          <p:cNvSpPr/>
          <p:nvPr>
            <p:ph idx="2" type="sldImg"/>
          </p:nvPr>
        </p:nvSpPr>
        <p:spPr>
          <a:xfrm>
            <a:off x="1143000" y="685800"/>
            <a:ext cx="4571640" cy="342864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3" name="Google Shape;133;p1:notes"/>
          <p:cNvSpPr txBox="1"/>
          <p:nvPr>
            <p:ph idx="1"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AM I DOING?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HOW IS IT DONE TODAY?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AM I DOING DIFFERENTLY?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 HAVE I DONE SO FAR?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"I've measured the CPU baseline, confirmed where the bottleneck is, and written all the hardware — the distance engine, the memory interface, and the compute core — all passing simulation."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WHAT'S NEXT?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"I need to connect all the pieces into a full system, verify timing, and then measure actual throughput to prove the speedup is real."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---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TIP: Linger on the Bliss before/after when you first show it — it's your best visual hook.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Total target: ~60 seconds.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---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DEFINITIONS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lang="en-US" sz="2000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2160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b="0" sz="2000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1:notes"/>
          <p:cNvSpPr txBox="1"/>
          <p:nvPr>
            <p:ph idx="12" type="sldNum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mes New Roman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" name="Google Shape;39;p7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9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" name="Google Shape;49;p9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1"/>
          <p:cNvSpPr txBox="1"/>
          <p:nvPr>
            <p:ph idx="1"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1" name="Google Shape;61;p11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blank">
  <p:cSld name="BLANK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1" name="Google Shape;71;p13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 txBox="1"/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5"/>
          <p:cNvSpPr txBox="1"/>
          <p:nvPr>
            <p:ph idx="1" type="body"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2" type="body"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5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5" name="Google Shape;85;p15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blank">
  <p:cSld name="BLANK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7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8" name="Google Shape;98;p17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 txBox="1"/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9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8" name="Google Shape;108;p19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blank">
  <p:cSld name="BLANK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1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9" name="Google Shape;119;p21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blank">
  <p:cSld name="BLANK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23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sz="1200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0" name="Google Shape;130;p23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10.xml"/></Relationships>
</file>

<file path=ppt/slideMasters/_rels/slideMaster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12.xml"/></Relationships>
</file>

<file path=ppt/slideMasters/_rels/slideMaster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8.xml"/></Relationships>
</file>

<file path=ppt/slideMasters/_rels/slideMaster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11.xml"/></Relationships>
</file>

<file path=ppt/slideMasters/_rels/slideMaster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/Relationships>
</file>

<file path=ppt/slideMasters/_rels/slideMaster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6.xml"/></Relationships>
</file>

<file path=ppt/slideMasters/_rels/slideMaster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/Relationships>
</file>

<file path=ppt/slideMasters/_rels/slideMaster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4.xml"/></Relationships>
</file>

<file path=ppt/slideMasters/_rels/slideMaster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7.xml"/></Relationships>
</file>

<file path=ppt/slideMasters/_rels/slideMaster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" name="Google Shape;11;p2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" name="Google Shape;13;p2"/>
          <p:cNvSpPr txBox="1"/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4" name="Google Shape;14;p2"/>
          <p:cNvSpPr txBox="1"/>
          <p:nvPr>
            <p:ph idx="1"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1" name="Google Shape;21;p4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2" name="Google Shape;22;p4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2" name="Google Shape;32;p6"/>
          <p:cNvSpPr txBox="1"/>
          <p:nvPr>
            <p:ph idx="1" type="body"/>
          </p:nvPr>
        </p:nvSpPr>
        <p:spPr>
          <a:xfrm rot="5400000">
            <a:off x="2309040" y="-251640"/>
            <a:ext cx="4525560" cy="8229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>
            <p:ph type="title"/>
          </p:nvPr>
        </p:nvSpPr>
        <p:spPr>
          <a:xfrm rot="5400000">
            <a:off x="4732380" y="2171700"/>
            <a:ext cx="5851080" cy="2057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2" name="Google Shape;42;p8"/>
          <p:cNvSpPr txBox="1"/>
          <p:nvPr>
            <p:ph idx="1" type="body"/>
          </p:nvPr>
        </p:nvSpPr>
        <p:spPr>
          <a:xfrm rot="5400000">
            <a:off x="541440" y="190440"/>
            <a:ext cx="5851080" cy="6019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3" name="Google Shape;43;p8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4" name="Google Shape;44;p8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5" name="Google Shape;45;p8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3" name="Google Shape;53;p10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4" name="Google Shape;54;p10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5" name="Google Shape;55;p10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4" name="Google Shape;64;p12"/>
          <p:cNvSpPr txBox="1"/>
          <p:nvPr>
            <p:ph idx="1"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5" name="Google Shape;65;p12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6" name="Google Shape;66;p12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4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4" name="Google Shape;74;p14"/>
          <p:cNvSpPr txBox="1"/>
          <p:nvPr>
            <p:ph idx="1"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5" name="Google Shape;75;p14"/>
          <p:cNvSpPr txBox="1"/>
          <p:nvPr>
            <p:ph idx="2"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6" name="Google Shape;76;p14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7" name="Google Shape;77;p14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78" name="Google Shape;78;p14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1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6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8" name="Google Shape;88;p16"/>
          <p:cNvSpPr txBox="1"/>
          <p:nvPr>
            <p:ph idx="1"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9" name="Google Shape;89;p16"/>
          <p:cNvSpPr txBox="1"/>
          <p:nvPr>
            <p:ph idx="2"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0" name="Google Shape;90;p16"/>
          <p:cNvSpPr txBox="1"/>
          <p:nvPr>
            <p:ph idx="3"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1" name="Google Shape;91;p16"/>
          <p:cNvSpPr txBox="1"/>
          <p:nvPr>
            <p:ph idx="4"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2" name="Google Shape;92;p16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3" name="Google Shape;93;p16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94" name="Google Shape;94;p16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3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/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1" name="Google Shape;101;p18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2" name="Google Shape;102;p18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03" name="Google Shape;103;p18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5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0"/>
          <p:cNvSpPr txBox="1"/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1" name="Google Shape;111;p20"/>
          <p:cNvSpPr txBox="1"/>
          <p:nvPr>
            <p:ph idx="1"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2" name="Google Shape;112;p20"/>
          <p:cNvSpPr txBox="1"/>
          <p:nvPr>
            <p:ph idx="2"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3" name="Google Shape;113;p20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4" name="Google Shape;114;p20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15" name="Google Shape;115;p20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2"/>
          <p:cNvSpPr txBox="1"/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2" name="Google Shape;122;p22"/>
          <p:cNvSpPr txBox="1"/>
          <p:nvPr>
            <p:ph idx="1"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3" name="Google Shape;123;p22"/>
          <p:cNvSpPr txBox="1"/>
          <p:nvPr>
            <p:ph idx="2"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4" name="Google Shape;124;p22"/>
          <p:cNvSpPr txBox="1"/>
          <p:nvPr>
            <p:ph idx="10"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5" name="Google Shape;125;p22"/>
          <p:cNvSpPr txBox="1"/>
          <p:nvPr>
            <p:ph idx="11"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mes New Roman"/>
              <a:buNone/>
              <a:defRPr b="0" i="0" sz="1400" u="none" cap="none" strike="noStrik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126" name="Google Shape;126;p22"/>
          <p:cNvSpPr txBox="1"/>
          <p:nvPr>
            <p:ph idx="12"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A1A2E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"/>
          <p:cNvSpPr/>
          <p:nvPr/>
        </p:nvSpPr>
        <p:spPr>
          <a:xfrm>
            <a:off x="0" y="0"/>
            <a:ext cx="12188520" cy="566640"/>
          </a:xfrm>
          <a:prstGeom prst="rect">
            <a:avLst/>
          </a:prstGeom>
          <a:solidFill>
            <a:srgbClr val="0F1E40"/>
          </a:solidFill>
          <a:ln>
            <a:noFill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"/>
          <p:cNvSpPr/>
          <p:nvPr/>
        </p:nvSpPr>
        <p:spPr>
          <a:xfrm>
            <a:off x="137160" y="54720"/>
            <a:ext cx="8229240" cy="379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K-Means Image Color Quantization Accelerator</a:t>
            </a:r>
            <a:endParaRPr b="0" i="0" sz="1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1"/>
          <p:cNvSpPr/>
          <p:nvPr/>
        </p:nvSpPr>
        <p:spPr>
          <a:xfrm>
            <a:off x="8412480" y="91440"/>
            <a:ext cx="3657240" cy="227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Bao Nguyen  |  ECE 410/510  |  Spring 2026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"/>
          <p:cNvSpPr/>
          <p:nvPr/>
        </p:nvSpPr>
        <p:spPr>
          <a:xfrm>
            <a:off x="137160" y="640080"/>
            <a:ext cx="1234080" cy="685440"/>
          </a:xfrm>
          <a:prstGeom prst="rect">
            <a:avLst/>
          </a:prstGeom>
          <a:solidFill>
            <a:srgbClr val="C0392B"/>
          </a:solidFill>
          <a:ln>
            <a:noFill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"/>
          <p:cNvSpPr/>
          <p:nvPr/>
        </p:nvSpPr>
        <p:spPr>
          <a:xfrm>
            <a:off x="137160" y="640080"/>
            <a:ext cx="1234080" cy="5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62×</a:t>
            </a:r>
            <a:endParaRPr b="0" i="0" sz="2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"/>
          <p:cNvSpPr/>
          <p:nvPr/>
        </p:nvSpPr>
        <p:spPr>
          <a:xfrm>
            <a:off x="137160" y="1042560"/>
            <a:ext cx="123408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FFDCDC"/>
                </a:solidFill>
                <a:latin typeface="Calibri"/>
                <a:ea typeface="Calibri"/>
                <a:cs typeface="Calibri"/>
                <a:sym typeface="Calibri"/>
              </a:rPr>
              <a:t>projected speedup</a:t>
            </a:r>
            <a:endParaRPr b="0" i="0" sz="7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"/>
          <p:cNvSpPr/>
          <p:nvPr/>
        </p:nvSpPr>
        <p:spPr>
          <a:xfrm>
            <a:off x="137149" y="1417325"/>
            <a:ext cx="2788800" cy="504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What am I doing?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• Custom AI Chiplet: Performs "Image Quantization" to reduce any photo to 16 optimized colors.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• Unsupervised Learning: Accelerates the K-Means clustering algorithm to group similar pixels autonomously.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• Centroid-Based Math: Uses a custom engine to find the closest "color center" (centroid) for every pixel.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How is it done today?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CPU: scikit-learn + OpenBLAS — ~9 sec/image, &lt;1% utilization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GPU: NVIDIA cuML / CUDA — fast but general-purpose, not K-Means specific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FPGA: AMD Artix-7 pipelined designs — rigid, device-specific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No dedicated near-memory chiplet for K-Means quantization with HBM3 + UCIe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What am I doing differently?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Memory &amp; Math Side-by-Side: Avoids the "Von Neumann bottleneck" by eliminating data travel time.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Massive Parallelism: Utilizing HBM3 to feed the Distance Engine, evaluating all 16 centroids simultaneously without memory starvation.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 Shift to Compute-Bound: 16 TB/s bandwidth → ~62x speedup by ensuring the math units never sit idle.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Accomplished so far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•Benchmarked CPU Baseline: Confirmed the 9-second bottleneck where the CPU sits idle waiting for RAM.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•Hardware Logic Verified: Distance engine and AXI4-Lite control interface passing simulation.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99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  •Interconnect: UCIe selected as the high-speed host interface to the computer.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1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What's next?</a:t>
            </a:r>
            <a:endParaRPr b="0" i="0" sz="9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99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• Top-level integration: host driver ↔ UCIe ↔ AXI4-Lite slave ↔ integer distance core                                                                 </a:t>
            </a:r>
            <a:endParaRPr sz="800">
              <a:solidFill>
                <a:srgbClr val="DDDDD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9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800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• System-level functional verification with  SystemVerilog  TB</a:t>
            </a:r>
            <a:endParaRPr sz="800">
              <a:solidFill>
                <a:srgbClr val="DDDDD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9"/>
              </a:spcBef>
              <a:spcAft>
                <a:spcPts val="0"/>
              </a:spcAft>
              <a:buSzPts val="1100"/>
              <a:buNone/>
            </a:pPr>
            <a:r>
              <a:rPr lang="en-US" sz="800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• Performance benchmarking                                                      </a:t>
            </a:r>
            <a:endParaRPr sz="800">
              <a:solidFill>
                <a:srgbClr val="DDDDD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9"/>
              </a:spcBef>
              <a:spcAft>
                <a:spcPts val="0"/>
              </a:spcAft>
              <a:buSzPts val="1100"/>
              <a:buNone/>
            </a:pPr>
            <a:r>
              <a:rPr lang="en-US" sz="800">
                <a:solidFill>
                  <a:srgbClr val="DDDDDD"/>
                </a:solidFill>
                <a:latin typeface="Calibri"/>
                <a:ea typeface="Calibri"/>
                <a:cs typeface="Calibri"/>
                <a:sym typeface="Calibri"/>
              </a:rPr>
              <a:t>• RTL synthesis &amp; timing reports   </a:t>
            </a:r>
            <a:endParaRPr sz="800">
              <a:solidFill>
                <a:srgbClr val="DDDDD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"/>
          <p:cNvSpPr/>
          <p:nvPr/>
        </p:nvSpPr>
        <p:spPr>
          <a:xfrm>
            <a:off x="2926080" y="640080"/>
            <a:ext cx="362772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"/>
          <p:cNvSpPr/>
          <p:nvPr/>
        </p:nvSpPr>
        <p:spPr>
          <a:xfrm>
            <a:off x="2980800" y="658440"/>
            <a:ext cx="351828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Roofline — CPU vs PIM Accelerator</a:t>
            </a:r>
            <a:endParaRPr b="0" i="0" sz="7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roofline_project.png" id="145" name="Google Shape;145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6080" y="850320"/>
            <a:ext cx="3627720" cy="228564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"/>
          <p:cNvSpPr/>
          <p:nvPr/>
        </p:nvSpPr>
        <p:spPr>
          <a:xfrm>
            <a:off x="6682320" y="640080"/>
            <a:ext cx="460476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"/>
          <p:cNvSpPr/>
          <p:nvPr/>
        </p:nvSpPr>
        <p:spPr>
          <a:xfrm>
            <a:off x="6737040" y="658440"/>
            <a:ext cx="44949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System Architecture</a:t>
            </a:r>
            <a:endParaRPr b="0" i="0" sz="7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system_diagram.png" id="148" name="Google Shape;148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82320" y="850320"/>
            <a:ext cx="4604760" cy="228564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"/>
          <p:cNvSpPr/>
          <p:nvPr/>
        </p:nvSpPr>
        <p:spPr>
          <a:xfrm>
            <a:off x="2926080" y="3337560"/>
            <a:ext cx="8017560" cy="200880"/>
          </a:xfrm>
          <a:prstGeom prst="rect">
            <a:avLst/>
          </a:prstGeom>
          <a:solidFill>
            <a:srgbClr val="0D3B5E"/>
          </a:solidFill>
          <a:ln>
            <a:noFill/>
          </a:ln>
          <a:effectLst>
            <a:outerShdw blurRad="39960" rotWithShape="0" dir="5400000" dist="23040">
              <a:srgbClr val="000000">
                <a:alpha val="34901"/>
              </a:srgbClr>
            </a:outerShdw>
          </a:effectLst>
        </p:spPr>
        <p:txBody>
          <a:bodyPr anchorCtr="0" anchor="ctr" bIns="45000" lIns="90000" spcFirstLastPara="1" rIns="90000" wrap="square" tIns="450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"/>
          <p:cNvSpPr/>
          <p:nvPr/>
        </p:nvSpPr>
        <p:spPr>
          <a:xfrm>
            <a:off x="2980800" y="3355920"/>
            <a:ext cx="7907760" cy="204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Bliss.jpg — Original (left) vs K-Means K=16 colors (right)</a:t>
            </a:r>
            <a:endParaRPr b="0" i="0" sz="75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bliss_before_after.png" id="151" name="Google Shape;151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926080" y="3547800"/>
            <a:ext cx="8017560" cy="32367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