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0F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54864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K-Means Image Color Quantization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91440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BBCC"/>
                </a:solidFill>
              </a:rPr>
              <a:t>Bao Nguyen  |  ECE 410/510  |  Spring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640080"/>
            <a:ext cx="1234440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640080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62×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04241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DCDC"/>
                </a:solidFill>
              </a:rPr>
              <a:t>projected speedup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1417319"/>
            <a:ext cx="2606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Custom chip: reduces any photo to 16 colors by grouping similar pixels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How is it done today?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CPU takes ~9 sec/image using &lt;1% of its power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46% of runtime spent waiting for data from memory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 differently?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Memory &amp; math sit side-by-side — no waiting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16 TB/s bandwidth → ~62× speedup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Accomplished so far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Benchmarked CPU baseline, found bottleneck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Distance engine, AXI4-Lite &amp; compute core all passing sim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What's next?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Full system integration + timing verification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Compare vs 9-sec baseline → declare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640080"/>
            <a:ext cx="3628218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658368"/>
            <a:ext cx="3518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Roofline — CPU vs PIM Accelerator</a:t>
            </a:r>
          </a:p>
        </p:txBody>
      </p:sp>
      <p:pic>
        <p:nvPicPr>
          <p:cNvPr id="11" name="Picture 10" descr="roofline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850392"/>
            <a:ext cx="3628218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82314" y="640080"/>
            <a:ext cx="460513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7178" y="658368"/>
            <a:ext cx="449540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System Architecture</a:t>
            </a:r>
          </a:p>
        </p:txBody>
      </p:sp>
      <p:pic>
        <p:nvPicPr>
          <p:cNvPr id="14" name="Picture 13" descr="system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314" y="850392"/>
            <a:ext cx="460513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926080" y="3337560"/>
            <a:ext cx="801774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3355848"/>
            <a:ext cx="79080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Bliss.jpg — Original (left) vs K-Means K=16 colors (right)</a:t>
            </a:r>
          </a:p>
        </p:txBody>
      </p:sp>
      <p:pic>
        <p:nvPicPr>
          <p:cNvPr id="17" name="Picture 16" descr="bliss_before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3547872"/>
            <a:ext cx="8017740" cy="32369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737360"/>
          </a:xfrm>
          <a:prstGeom prst="rect">
            <a:avLst/>
          </a:prstGeom>
          <a:solidFill>
            <a:srgbClr val="252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8B8B"/>
                </a:solidFill>
              </a:rPr>
              <a:t>Codefest 6 — CLLM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</a:rPr>
              <a:t>4×4 Binary-Weight Crossbar MAC Unit in SystemVerilog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AAAA"/>
                </a:solidFill>
              </a:rPr>
              <a:t>LLM: Claude Sonnet 4.6  ·  Tool: iverilog -g2012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C3E50"/>
                </a:solidFill>
              </a:rPr>
              <a:t>The Design</a:t>
            </a:r>
          </a:p>
        </p:txBody>
      </p:sp>
      <p:pic>
        <p:nvPicPr>
          <p:cNvPr id="4" name="Picture 3" descr="slide_cross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5943600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777240"/>
            <a:ext cx="557784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960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</a:rPr>
              <a:t>out[j] = Σᵢ weight[i][j] × in[i]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327149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99869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C3E50"/>
                </a:solidFill>
              </a:rPr>
              <a:t>3-stage pipeline: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866898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E44AD"/>
                </a:solidFill>
              </a:rPr>
              <a:t>① Weight register  (16-bit flat, 1 cycle load)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90748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67E22"/>
                </a:solidFill>
              </a:rPr>
              <a:t>② Combinational MAC  (all 4 outputs parallel)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514598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7AE60"/>
                </a:solidFill>
              </a:rPr>
              <a:t>③ Output register  (10-bit signed)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838448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011168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C3E50"/>
                </a:solidFill>
              </a:rPr>
              <a:t>Key choices: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378197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Flat 16-bit reg → load full matrix in 1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680457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Scalar ports → iverilog compatibility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982717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10-bit out → 4×127=508 fits in 511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C3E50"/>
                </a:solidFill>
              </a:rPr>
              <a:t>The Testbench</a:t>
            </a:r>
          </a:p>
        </p:txBody>
      </p:sp>
      <p:pic>
        <p:nvPicPr>
          <p:cNvPr id="4" name="Picture 3" descr="slide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315200" cy="3840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4709160"/>
            <a:ext cx="722376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73168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Weights loaded:  [[+1,-1,+1,-1], [+1,+1,-1,-1], [-1,+1,+1,-1], [-1,-1,-1,+1]]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1663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C3E50"/>
                </a:solidFill>
              </a:rPr>
              <a:t>Inputs:  in = [10, 20, 30, 40]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98DB"/>
                </a:solidFill>
              </a:rPr>
              <a:t>Hand-calc before running:  out = [−40, 0, −20, −20]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7E22"/>
                </a:solidFill>
              </a:rPr>
              <a:t>Key: wait 2 cycles after weight_load — output register clocks on same edge as weight register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777240"/>
            <a:ext cx="4343400" cy="5760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9601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8B8B"/>
                </a:solidFill>
              </a:rPr>
              <a:t>Why 2 cycles?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34874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531619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C3E50"/>
                </a:solidFill>
              </a:rPr>
              <a:t>Cycle 1 (weight_load=1):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51659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E44AD"/>
                </a:solidFill>
              </a:rPr>
              <a:t>wreg ← weight_in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148839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74C3C"/>
                </a:solidFill>
              </a:rPr>
              <a:t>out ← MAC(old wreg) 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446019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2889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C3E50"/>
                </a:solidFill>
              </a:rPr>
              <a:t>Cycle 2 (weight_load=0):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94893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E44AD"/>
                </a:solidFill>
              </a:rPr>
              <a:t>wreg stays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24611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7AE60"/>
                </a:solidFill>
              </a:rPr>
              <a:t>out ← MAC(new wreg) 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C3E50"/>
                </a:solidFill>
              </a:rPr>
              <a:t>Simulation Results</a:t>
            </a:r>
          </a:p>
        </p:txBody>
      </p:sp>
      <p:pic>
        <p:nvPicPr>
          <p:cNvPr id="4" name="Picture 3" descr="slide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6583680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49440" y="868680"/>
            <a:ext cx="502920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6600" y="9418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C3E50"/>
                </a:solidFill>
              </a:rPr>
              <a:t>out0 = −40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39903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+10+20−30−40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9418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27AE60"/>
                </a:solidFill>
              </a:rPr>
              <a:t>✓ 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2167128"/>
            <a:ext cx="502920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2402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C3E50"/>
                </a:solidFill>
              </a:rPr>
              <a:t>out1 =  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6974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−10+20+30−40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240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27AE60"/>
                </a:solidFill>
              </a:rPr>
              <a:t>✓ PASS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465576"/>
            <a:ext cx="502920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387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C3E50"/>
                </a:solidFill>
              </a:rPr>
              <a:t>out2 = −20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99592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+10−20+30−40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353872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27AE60"/>
                </a:solidFill>
              </a:rPr>
              <a:t>✓ PASS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4764024"/>
            <a:ext cx="502920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483717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C3E50"/>
                </a:solidFill>
              </a:rPr>
              <a:t>out3 = −20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529437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−10−20−30+40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48371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27AE60"/>
                </a:solidFill>
              </a:rPr>
              <a:t>✓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5943600"/>
            <a:ext cx="5029200" cy="6858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59893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4 / 4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