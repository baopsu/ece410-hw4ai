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K-Means Image Color Quantization Accelerator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BBCC"/>
                </a:solidFill>
              </a:rPr>
              <a:t>Bao Nguyen  |  ECE 410/510  |  Spring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713232"/>
            <a:ext cx="1417320" cy="86868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713232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62×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1170432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projected
speedup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8" y="685800"/>
            <a:ext cx="406908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</a:rPr>
              <a:t>What am I doing?</a:t>
            </a:r>
          </a:p>
          <a:p>
            <a:pPr lvl="1">
              <a:spcAft>
                <a:spcPts val="200"/>
              </a:spcAft>
            </a:pPr>
            <a:r>
              <a:rPr sz="900" b="0">
                <a:solidFill>
                  <a:srgbClr val="D2D2D2"/>
                </a:solidFill>
              </a:rPr>
              <a:t>• Custom chip: reduces any photo to 16 colors by grouping similar pixels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</a:rPr>
              <a:t>How is it done today?</a:t>
            </a:r>
          </a:p>
          <a:p>
            <a:pPr lvl="1">
              <a:spcAft>
                <a:spcPts val="200"/>
              </a:spcAft>
            </a:pPr>
            <a:r>
              <a:rPr sz="900" b="0">
                <a:solidFill>
                  <a:srgbClr val="D2D2D2"/>
                </a:solidFill>
              </a:rPr>
              <a:t>• Runs on CPU — ~9 sec/image, using &lt;1% of CPU computing power</a:t>
            </a:r>
          </a:p>
          <a:p>
            <a:pPr lvl="1">
              <a:spcAft>
                <a:spcPts val="200"/>
              </a:spcAft>
            </a:pPr>
            <a:r>
              <a:rPr sz="900" b="0">
                <a:solidFill>
                  <a:srgbClr val="D2D2D2"/>
                </a:solidFill>
              </a:rPr>
              <a:t>• Bottleneck is memory: CPU waits for data, not doing math (46% of runtime)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</a:rPr>
              <a:t>What am I doing differently?</a:t>
            </a:r>
          </a:p>
          <a:p>
            <a:pPr lvl="1">
              <a:spcAft>
                <a:spcPts val="200"/>
              </a:spcAft>
            </a:pPr>
            <a:r>
              <a:rPr sz="900" b="0">
                <a:solidFill>
                  <a:srgbClr val="D2D2D2"/>
                </a:solidFill>
              </a:rPr>
              <a:t>• Memory &amp; math units side-by-side — no waiting (near-memory PIM chiplet)</a:t>
            </a:r>
          </a:p>
          <a:p>
            <a:pPr lvl="1">
              <a:spcAft>
                <a:spcPts val="200"/>
              </a:spcAft>
            </a:pPr>
            <a:r>
              <a:rPr sz="900" b="0">
                <a:solidFill>
                  <a:srgbClr val="D2D2D2"/>
                </a:solidFill>
              </a:rPr>
              <a:t>• 16 TB/s internal bandwidth vs CPU — ~62× speedup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</a:rPr>
              <a:t>Accomplished so far</a:t>
            </a:r>
          </a:p>
          <a:p>
            <a:pPr lvl="1">
              <a:spcAft>
                <a:spcPts val="200"/>
              </a:spcAft>
            </a:pPr>
            <a:r>
              <a:rPr sz="900" b="0">
                <a:solidFill>
                  <a:srgbClr val="D2D2D2"/>
                </a:solidFill>
              </a:rPr>
              <a:t>• Benchmarked CPU baseline, confirmed memory bottleneck</a:t>
            </a:r>
          </a:p>
          <a:p>
            <a:pPr lvl="1">
              <a:spcAft>
                <a:spcPts val="200"/>
              </a:spcAft>
            </a:pPr>
            <a:r>
              <a:rPr sz="900" b="0">
                <a:solidFill>
                  <a:srgbClr val="D2D2D2"/>
                </a:solidFill>
              </a:rPr>
              <a:t>• Wrote &amp; simulated all hardware — distance engine, AXI4-Lite interface,</a:t>
            </a:r>
          </a:p>
          <a:p>
            <a:pPr lvl="1">
              <a:spcAft>
                <a:spcPts val="200"/>
              </a:spcAft>
            </a:pPr>
            <a:r>
              <a:rPr sz="900" b="0">
                <a:solidFill>
                  <a:srgbClr val="D2D2D2"/>
                </a:solidFill>
              </a:rPr>
              <a:t>•   compute core — all passing testbenches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</a:rPr>
              <a:t>What's next?</a:t>
            </a:r>
          </a:p>
          <a:p>
            <a:pPr lvl="1">
              <a:spcAft>
                <a:spcPts val="200"/>
              </a:spcAft>
            </a:pPr>
            <a:r>
              <a:rPr sz="900" b="0">
                <a:solidFill>
                  <a:srgbClr val="D2D2D2"/>
                </a:solidFill>
              </a:rPr>
              <a:t>• Connect pieces into full system, verify timing,</a:t>
            </a:r>
          </a:p>
          <a:p>
            <a:pPr lvl="1">
              <a:spcAft>
                <a:spcPts val="200"/>
              </a:spcAft>
            </a:pPr>
            <a:r>
              <a:rPr sz="900" b="0">
                <a:solidFill>
                  <a:srgbClr val="D2D2D2"/>
                </a:solidFill>
              </a:rPr>
              <a:t>•   compare throughput vs 9-sec baseline → declare success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685800"/>
            <a:ext cx="6144768" cy="228600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704088"/>
            <a:ext cx="6053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FC3F7"/>
                </a:solidFill>
              </a:rPr>
              <a:t>Roofline: CPU vs PIM Accelerator</a:t>
            </a:r>
          </a:p>
        </p:txBody>
      </p:sp>
      <p:pic>
        <p:nvPicPr>
          <p:cNvPr id="11" name="Picture 10" descr="roofline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932688"/>
            <a:ext cx="6144768" cy="23317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897880" y="3145536"/>
            <a:ext cx="3026664" cy="228600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3163824"/>
            <a:ext cx="2935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FC3F7"/>
                </a:solidFill>
              </a:rPr>
              <a:t>Before (original)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3401568"/>
            <a:ext cx="3026664" cy="21031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4270248"/>
            <a:ext cx="2660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AA"/>
                </a:solidFill>
              </a:rPr>
              <a:t>← add bliss_original.jpg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15984" y="3145536"/>
            <a:ext cx="3026664" cy="228600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163824"/>
            <a:ext cx="2935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FC3F7"/>
                </a:solidFill>
              </a:rPr>
              <a:t>After (16 colors, K-Means)</a:t>
            </a:r>
          </a:p>
        </p:txBody>
      </p:sp>
      <p:pic>
        <p:nvPicPr>
          <p:cNvPr id="18" name="Picture 17" descr="bliss_quantiz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984" y="3401568"/>
            <a:ext cx="3026664" cy="21031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897880" y="5577840"/>
            <a:ext cx="6144768" cy="228600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5596127"/>
            <a:ext cx="6053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FC3F7"/>
                </a:solidFill>
              </a:rPr>
              <a:t>System Architecture</a:t>
            </a:r>
          </a:p>
        </p:txBody>
      </p:sp>
      <p:pic>
        <p:nvPicPr>
          <p:cNvPr id="21" name="Picture 20" descr="system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5824728"/>
            <a:ext cx="6144768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