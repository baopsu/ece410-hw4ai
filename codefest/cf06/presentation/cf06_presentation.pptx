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 for CF06 CLLM I used Claude Sonnet 4.6 to generate a 4-by-4 binary-weight crossbar MAC unit in SystemVerilog. I'll walk you through the design, the testbench, and the simulation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crossbar is a grid of wires — rows carry inputs, columns carry outputs, and at each intersection sits a weight that is either plus-one or minus-one.</a:t>
            </a:r>
          </a:p>
          <a:p/>
          <a:p>
            <a:r>
              <a:t>The formula at the top says: for each output column j, sum every input times its weight at that intersection.</a:t>
            </a:r>
          </a:p>
          <a:p/>
          <a:p>
            <a:r>
              <a:t>For our test case the inputs are 10, 20, 30, 40. Green cells are +1, red cells are −1. Trace column zero — you get plus-ten, plus-twenty, minus-thirty, minus-forty — which gives minus-forty at the bottom.</a:t>
            </a:r>
          </a:p>
          <a:p/>
          <a:p>
            <a:r>
              <a:t>POINTER: point to the formula → trace col 0 top to bottom → point to out0 = −40 box.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internal architecture. There are three stages.</a:t>
            </a:r>
          </a:p>
          <a:p/>
          <a:p>
            <a:r>
              <a:t>On the left: weight_in is a 16-bit flat register encoding the full weight matrix, and weight_load is a one-cycle pulse that latches it. The four activations are 8-bit signed integers.</a:t>
            </a:r>
          </a:p>
          <a:p/>
          <a:p>
            <a:r>
              <a:t>The purple block is the weight register — a simple flip-flop. Below it is the combinational crossbar MAC — it sign-extends inputs to 10 bits and computes the four dot products in parallel using wire assignments. Finally, the green output register latches the result on the next clock edge.</a:t>
            </a:r>
          </a:p>
          <a:p/>
          <a:p>
            <a:r>
              <a:t>Outputs are 10-bit signed: worst case is 4 × 127 = 508, which fits.</a:t>
            </a:r>
          </a:p>
          <a:p/>
          <a:p>
            <a:r>
              <a:t>POINTER: point to each colored block as you name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weight matrix is packed into one 16-bit value using a simple rule: bit 4i plus j encodes weight[i][j]. Green bits are plus-one, red bits are minus-one.</a:t>
            </a:r>
          </a:p>
          <a:p/>
          <a:p>
            <a:r>
              <a:t>The four row groups are color-coded at the bottom — row 0 in the low four bits, row 3 in the high four bits. For our test case row 0 is plus-one, minus-one, plus-one, minus-one — so bits 0 through 3 are 1, 0, 1, 0. In the testbench I just pass a single hex value and the RTL decodes it automatically.</a:t>
            </a:r>
          </a:p>
          <a:p/>
          <a:p>
            <a:r>
              <a:t>POINTER: point to the formula → sweep across the bit cells → point to row 0 bracket.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testbench uses a two-cycle pipeline. You can see it in the waveform.</a:t>
            </a:r>
          </a:p>
          <a:p/>
          <a:p>
            <a:r>
              <a:t>First I assert reset to clear all registers. Then I release reset, set the 16-bit weight_in and the inputs, and pulse weight_load high for one cycle — you can see that orange pulse.</a:t>
            </a:r>
          </a:p>
          <a:p/>
          <a:p>
            <a:r>
              <a:t>The weight register latches on that rising edge. But the output register doesn't see the new weights until the next cycle, because the MAC reads the register that was just updated. So the output is only valid two cycles after weight_load — that's when the green signal goes high.</a:t>
            </a:r>
          </a:p>
          <a:p/>
          <a:p>
            <a:r>
              <a:t>The testbench reads the outputs right after that second rising edge and compares against hand-calculated values.</a:t>
            </a:r>
          </a:p>
          <a:p/>
          <a:p>
            <a:r>
              <a:t>POINTER: point to the orange waveform pulse → point to the gap → point to green going high.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are the simulation results from iverilog. All four outputs match the hand-calculated values exactly.</a:t>
            </a:r>
          </a:p>
          <a:p/>
          <a:p>
            <a:r>
              <a:t>Out-zero is minus-40. Out-one is zero. Out-two and out-three are both minus-20. Four out of four tests pass.</a:t>
            </a:r>
          </a:p>
          <a:p/>
          <a:p>
            <a:r>
              <a:t>POINTER: point to each output card on the right as you read the value.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I used Claude Sonnet 4.6 to generate the crossbar MAC module. The key design choice was a flat 16-bit weight register decoded with a simple bit-index formula. The testbench confirmed all four outputs match hand calculations. Thanks.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229"/>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12188952" cy="274320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10332720" cy="777240"/>
          </a:xfrm>
          <a:prstGeom prst="rect">
            <a:avLst/>
          </a:prstGeom>
          <a:noFill/>
        </p:spPr>
        <p:txBody>
          <a:bodyPr wrap="square">
            <a:spAutoFit/>
          </a:bodyPr>
          <a:lstStyle/>
          <a:p>
            <a:pPr algn="ctr"/>
            <a:r>
              <a:rPr sz="4600" b="1">
                <a:solidFill>
                  <a:srgbClr val="008B8B"/>
                </a:solidFill>
              </a:rPr>
              <a:t>CF06 CLLM</a:t>
            </a:r>
          </a:p>
        </p:txBody>
      </p:sp>
      <p:sp>
        <p:nvSpPr>
          <p:cNvPr id="5" name="TextBox 4"/>
          <p:cNvSpPr txBox="1"/>
          <p:nvPr/>
        </p:nvSpPr>
        <p:spPr>
          <a:xfrm>
            <a:off x="914400" y="2331720"/>
            <a:ext cx="10332720" cy="685800"/>
          </a:xfrm>
          <a:prstGeom prst="rect">
            <a:avLst/>
          </a:prstGeom>
          <a:noFill/>
        </p:spPr>
        <p:txBody>
          <a:bodyPr wrap="square">
            <a:spAutoFit/>
          </a:bodyPr>
          <a:lstStyle/>
          <a:p>
            <a:pPr algn="ctr"/>
            <a:r>
              <a:rPr sz="2800" b="0">
                <a:solidFill>
                  <a:srgbClr val="FFFFFF"/>
                </a:solidFill>
              </a:rPr>
              <a:t>4×4 Binary-Weight Crossbar MAC Unit in SystemVerilog</a:t>
            </a:r>
          </a:p>
        </p:txBody>
      </p:sp>
      <p:sp>
        <p:nvSpPr>
          <p:cNvPr id="6" name="TextBox 5"/>
          <p:cNvSpPr txBox="1"/>
          <p:nvPr/>
        </p:nvSpPr>
        <p:spPr>
          <a:xfrm>
            <a:off x="914400" y="3154680"/>
            <a:ext cx="10332720" cy="457200"/>
          </a:xfrm>
          <a:prstGeom prst="rect">
            <a:avLst/>
          </a:prstGeom>
          <a:noFill/>
        </p:spPr>
        <p:txBody>
          <a:bodyPr wrap="square">
            <a:spAutoFit/>
          </a:bodyPr>
          <a:lstStyle/>
          <a:p>
            <a:pPr algn="ctr"/>
            <a:r>
              <a:rPr sz="1700" b="0">
                <a:solidFill>
                  <a:srgbClr val="AAAAAA"/>
                </a:solidFill>
              </a:rPr>
              <a:t>ECE 410/510 Spring 2026  ·  Bao Nguyen  ·  LLM: Claude Sonnet 4.6</a:t>
            </a:r>
          </a:p>
        </p:txBody>
      </p:sp>
      <p:pic>
        <p:nvPicPr>
          <p:cNvPr id="7" name="Picture 6" descr="slide_crossbar.png"/>
          <p:cNvPicPr>
            <a:picLocks noChangeAspect="1"/>
          </p:cNvPicPr>
          <p:nvPr/>
        </p:nvPicPr>
        <p:blipFill>
          <a:blip r:embed="rId2"/>
          <a:stretch>
            <a:fillRect/>
          </a:stretch>
        </p:blipFill>
        <p:spPr>
          <a:xfrm>
            <a:off x="3474720" y="3749039"/>
            <a:ext cx="5303520" cy="2834640"/>
          </a:xfrm>
          <a:prstGeom prst="rect">
            <a:avLst/>
          </a:prstGeom>
        </p:spPr>
      </p:pic>
      <p:sp>
        <p:nvSpPr>
          <p:cNvPr id="8" name="TextBox 7"/>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1 /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2 / 7</a:t>
            </a:r>
          </a:p>
        </p:txBody>
      </p:sp>
      <p:sp>
        <p:nvSpPr>
          <p:cNvPr id="4" name="TextBox 3"/>
          <p:cNvSpPr txBox="1"/>
          <p:nvPr/>
        </p:nvSpPr>
        <p:spPr>
          <a:xfrm>
            <a:off x="457200" y="137160"/>
            <a:ext cx="8229600" cy="594360"/>
          </a:xfrm>
          <a:prstGeom prst="rect">
            <a:avLst/>
          </a:prstGeom>
          <a:noFill/>
        </p:spPr>
        <p:txBody>
          <a:bodyPr wrap="square">
            <a:spAutoFit/>
          </a:bodyPr>
          <a:lstStyle/>
          <a:p>
            <a:pPr algn="l"/>
            <a:r>
              <a:rPr sz="3000" b="1">
                <a:solidFill>
                  <a:srgbClr val="2C3E50"/>
                </a:solidFill>
              </a:rPr>
              <a:t>What is a Crossbar MAC?</a:t>
            </a:r>
          </a:p>
        </p:txBody>
      </p:sp>
      <p:pic>
        <p:nvPicPr>
          <p:cNvPr id="5" name="Picture 4" descr="slide_crossbar.png"/>
          <p:cNvPicPr>
            <a:picLocks noChangeAspect="1"/>
          </p:cNvPicPr>
          <p:nvPr/>
        </p:nvPicPr>
        <p:blipFill>
          <a:blip r:embed="rId2"/>
          <a:stretch>
            <a:fillRect/>
          </a:stretch>
        </p:blipFill>
        <p:spPr>
          <a:xfrm>
            <a:off x="274320" y="822960"/>
            <a:ext cx="6583680" cy="5669280"/>
          </a:xfrm>
          <a:prstGeom prst="rect">
            <a:avLst/>
          </a:prstGeom>
        </p:spPr>
      </p:pic>
      <p:sp>
        <p:nvSpPr>
          <p:cNvPr id="6" name="Rectangle 5"/>
          <p:cNvSpPr/>
          <p:nvPr/>
        </p:nvSpPr>
        <p:spPr>
          <a:xfrm>
            <a:off x="7040880" y="822960"/>
            <a:ext cx="4937760" cy="566928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78040" y="1005840"/>
            <a:ext cx="4663440" cy="384048"/>
          </a:xfrm>
          <a:prstGeom prst="rect">
            <a:avLst/>
          </a:prstGeom>
          <a:noFill/>
        </p:spPr>
        <p:txBody>
          <a:bodyPr wrap="square">
            <a:spAutoFit/>
          </a:bodyPr>
          <a:lstStyle/>
          <a:p>
            <a:pPr algn="l"/>
            <a:r>
              <a:rPr sz="1800" b="0">
                <a:solidFill>
                  <a:srgbClr val="2C3E50"/>
                </a:solidFill>
              </a:rPr>
              <a:t>Rows carry inputs, columns carry outputs</a:t>
            </a:r>
          </a:p>
        </p:txBody>
      </p:sp>
      <p:sp>
        <p:nvSpPr>
          <p:cNvPr id="8" name="TextBox 7"/>
          <p:cNvSpPr txBox="1"/>
          <p:nvPr/>
        </p:nvSpPr>
        <p:spPr>
          <a:xfrm>
            <a:off x="7178040" y="1348740"/>
            <a:ext cx="4663440" cy="384048"/>
          </a:xfrm>
          <a:prstGeom prst="rect">
            <a:avLst/>
          </a:prstGeom>
          <a:noFill/>
        </p:spPr>
        <p:txBody>
          <a:bodyPr wrap="square">
            <a:spAutoFit/>
          </a:bodyPr>
          <a:lstStyle/>
          <a:p>
            <a:pPr algn="l"/>
            <a:r>
              <a:rPr sz="1000" b="0">
                <a:solidFill>
                  <a:srgbClr val="2C3E50"/>
                </a:solidFill>
              </a:rPr>
              <a:t/>
            </a:r>
          </a:p>
        </p:txBody>
      </p:sp>
      <p:sp>
        <p:nvSpPr>
          <p:cNvPr id="9" name="TextBox 8"/>
          <p:cNvSpPr txBox="1"/>
          <p:nvPr/>
        </p:nvSpPr>
        <p:spPr>
          <a:xfrm>
            <a:off x="7178040" y="1539240"/>
            <a:ext cx="4663440" cy="384048"/>
          </a:xfrm>
          <a:prstGeom prst="rect">
            <a:avLst/>
          </a:prstGeom>
          <a:noFill/>
        </p:spPr>
        <p:txBody>
          <a:bodyPr wrap="square">
            <a:spAutoFit/>
          </a:bodyPr>
          <a:lstStyle/>
          <a:p>
            <a:pPr algn="l"/>
            <a:r>
              <a:rPr sz="1800" b="0">
                <a:solidFill>
                  <a:srgbClr val="2C3E50"/>
                </a:solidFill>
              </a:rPr>
              <a:t>Each intersection = a weight (+1 or −1)</a:t>
            </a:r>
          </a:p>
        </p:txBody>
      </p:sp>
      <p:sp>
        <p:nvSpPr>
          <p:cNvPr id="10" name="TextBox 9"/>
          <p:cNvSpPr txBox="1"/>
          <p:nvPr/>
        </p:nvSpPr>
        <p:spPr>
          <a:xfrm>
            <a:off x="7178040" y="1882140"/>
            <a:ext cx="4663440" cy="384048"/>
          </a:xfrm>
          <a:prstGeom prst="rect">
            <a:avLst/>
          </a:prstGeom>
          <a:noFill/>
        </p:spPr>
        <p:txBody>
          <a:bodyPr wrap="square">
            <a:spAutoFit/>
          </a:bodyPr>
          <a:lstStyle/>
          <a:p>
            <a:pPr algn="l"/>
            <a:r>
              <a:rPr sz="1000" b="0">
                <a:solidFill>
                  <a:srgbClr val="2C3E50"/>
                </a:solidFill>
              </a:rPr>
              <a:t/>
            </a:r>
          </a:p>
        </p:txBody>
      </p:sp>
      <p:sp>
        <p:nvSpPr>
          <p:cNvPr id="11" name="TextBox 10"/>
          <p:cNvSpPr txBox="1"/>
          <p:nvPr/>
        </p:nvSpPr>
        <p:spPr>
          <a:xfrm>
            <a:off x="7178040" y="2072640"/>
            <a:ext cx="4663440" cy="384048"/>
          </a:xfrm>
          <a:prstGeom prst="rect">
            <a:avLst/>
          </a:prstGeom>
          <a:noFill/>
        </p:spPr>
        <p:txBody>
          <a:bodyPr wrap="square">
            <a:spAutoFit/>
          </a:bodyPr>
          <a:lstStyle/>
          <a:p>
            <a:pPr algn="l"/>
            <a:r>
              <a:rPr sz="1800" b="1">
                <a:solidFill>
                  <a:srgbClr val="2C3E50"/>
                </a:solidFill>
              </a:rPr>
              <a:t>Formula:</a:t>
            </a:r>
          </a:p>
        </p:txBody>
      </p:sp>
      <p:sp>
        <p:nvSpPr>
          <p:cNvPr id="12" name="TextBox 11"/>
          <p:cNvSpPr txBox="1"/>
          <p:nvPr/>
        </p:nvSpPr>
        <p:spPr>
          <a:xfrm>
            <a:off x="7178040" y="2415540"/>
            <a:ext cx="4663440" cy="384048"/>
          </a:xfrm>
          <a:prstGeom prst="rect">
            <a:avLst/>
          </a:prstGeom>
          <a:noFill/>
        </p:spPr>
        <p:txBody>
          <a:bodyPr wrap="square">
            <a:spAutoFit/>
          </a:bodyPr>
          <a:lstStyle/>
          <a:p>
            <a:pPr algn="l"/>
            <a:r>
              <a:rPr sz="2000" b="1">
                <a:solidFill>
                  <a:srgbClr val="008B8B"/>
                </a:solidFill>
              </a:rPr>
              <a:t>out[j] = Σᵢ weight[i][j] × in[i]</a:t>
            </a:r>
          </a:p>
        </p:txBody>
      </p:sp>
      <p:sp>
        <p:nvSpPr>
          <p:cNvPr id="13" name="TextBox 12"/>
          <p:cNvSpPr txBox="1"/>
          <p:nvPr/>
        </p:nvSpPr>
        <p:spPr>
          <a:xfrm>
            <a:off x="7178040" y="2796540"/>
            <a:ext cx="4663440" cy="384048"/>
          </a:xfrm>
          <a:prstGeom prst="rect">
            <a:avLst/>
          </a:prstGeom>
          <a:noFill/>
        </p:spPr>
        <p:txBody>
          <a:bodyPr wrap="square">
            <a:spAutoFit/>
          </a:bodyPr>
          <a:lstStyle/>
          <a:p>
            <a:pPr algn="l"/>
            <a:r>
              <a:rPr sz="1000" b="0">
                <a:solidFill>
                  <a:srgbClr val="2C3E50"/>
                </a:solidFill>
              </a:rPr>
              <a:t/>
            </a:r>
          </a:p>
        </p:txBody>
      </p:sp>
      <p:sp>
        <p:nvSpPr>
          <p:cNvPr id="14" name="TextBox 13"/>
          <p:cNvSpPr txBox="1"/>
          <p:nvPr/>
        </p:nvSpPr>
        <p:spPr>
          <a:xfrm>
            <a:off x="7178040" y="2987040"/>
            <a:ext cx="4663440" cy="384048"/>
          </a:xfrm>
          <a:prstGeom prst="rect">
            <a:avLst/>
          </a:prstGeom>
          <a:noFill/>
        </p:spPr>
        <p:txBody>
          <a:bodyPr wrap="square">
            <a:spAutoFit/>
          </a:bodyPr>
          <a:lstStyle/>
          <a:p>
            <a:pPr algn="l"/>
            <a:r>
              <a:rPr sz="1700" b="0">
                <a:solidFill>
                  <a:srgbClr val="2C3E50"/>
                </a:solidFill>
              </a:rPr>
              <a:t>Inputs:  [10, 20, 30, 40]</a:t>
            </a:r>
          </a:p>
        </p:txBody>
      </p:sp>
      <p:sp>
        <p:nvSpPr>
          <p:cNvPr id="15" name="TextBox 14"/>
          <p:cNvSpPr txBox="1"/>
          <p:nvPr/>
        </p:nvSpPr>
        <p:spPr>
          <a:xfrm>
            <a:off x="7178040" y="3310889"/>
            <a:ext cx="4663440" cy="384048"/>
          </a:xfrm>
          <a:prstGeom prst="rect">
            <a:avLst/>
          </a:prstGeom>
          <a:noFill/>
        </p:spPr>
        <p:txBody>
          <a:bodyPr wrap="square">
            <a:spAutoFit/>
          </a:bodyPr>
          <a:lstStyle/>
          <a:p>
            <a:pPr algn="l"/>
            <a:r>
              <a:rPr sz="800" b="0">
                <a:solidFill>
                  <a:srgbClr val="2C3E50"/>
                </a:solidFill>
              </a:rPr>
              <a:t/>
            </a:r>
          </a:p>
        </p:txBody>
      </p:sp>
      <p:sp>
        <p:nvSpPr>
          <p:cNvPr id="16" name="TextBox 15"/>
          <p:cNvSpPr txBox="1"/>
          <p:nvPr/>
        </p:nvSpPr>
        <p:spPr>
          <a:xfrm>
            <a:off x="7178040" y="3463289"/>
            <a:ext cx="4663440" cy="384048"/>
          </a:xfrm>
          <a:prstGeom prst="rect">
            <a:avLst/>
          </a:prstGeom>
          <a:noFill/>
        </p:spPr>
        <p:txBody>
          <a:bodyPr wrap="square">
            <a:spAutoFit/>
          </a:bodyPr>
          <a:lstStyle/>
          <a:p>
            <a:pPr algn="l"/>
            <a:r>
              <a:rPr sz="1600" b="0">
                <a:solidFill>
                  <a:srgbClr val="C0392B"/>
                </a:solidFill>
              </a:rPr>
              <a:t>out0: +10+20−30−40 = −40</a:t>
            </a:r>
          </a:p>
        </p:txBody>
      </p:sp>
      <p:sp>
        <p:nvSpPr>
          <p:cNvPr id="17" name="TextBox 16"/>
          <p:cNvSpPr txBox="1"/>
          <p:nvPr/>
        </p:nvSpPr>
        <p:spPr>
          <a:xfrm>
            <a:off x="7178040" y="3768089"/>
            <a:ext cx="4663440" cy="384048"/>
          </a:xfrm>
          <a:prstGeom prst="rect">
            <a:avLst/>
          </a:prstGeom>
          <a:noFill/>
        </p:spPr>
        <p:txBody>
          <a:bodyPr wrap="square">
            <a:spAutoFit/>
          </a:bodyPr>
          <a:lstStyle/>
          <a:p>
            <a:pPr algn="l"/>
            <a:r>
              <a:rPr sz="1600" b="0">
                <a:solidFill>
                  <a:srgbClr val="C0392B"/>
                </a:solidFill>
              </a:rPr>
              <a:t>out1: −10+20+30−40 =   0</a:t>
            </a:r>
          </a:p>
        </p:txBody>
      </p:sp>
      <p:sp>
        <p:nvSpPr>
          <p:cNvPr id="18" name="TextBox 17"/>
          <p:cNvSpPr txBox="1"/>
          <p:nvPr/>
        </p:nvSpPr>
        <p:spPr>
          <a:xfrm>
            <a:off x="7178040" y="4072889"/>
            <a:ext cx="4663440" cy="384048"/>
          </a:xfrm>
          <a:prstGeom prst="rect">
            <a:avLst/>
          </a:prstGeom>
          <a:noFill/>
        </p:spPr>
        <p:txBody>
          <a:bodyPr wrap="square">
            <a:spAutoFit/>
          </a:bodyPr>
          <a:lstStyle/>
          <a:p>
            <a:pPr algn="l"/>
            <a:r>
              <a:rPr sz="1600" b="0">
                <a:solidFill>
                  <a:srgbClr val="C0392B"/>
                </a:solidFill>
              </a:rPr>
              <a:t>out2: +10−20+30−40 = −20</a:t>
            </a:r>
          </a:p>
        </p:txBody>
      </p:sp>
      <p:sp>
        <p:nvSpPr>
          <p:cNvPr id="19" name="TextBox 18"/>
          <p:cNvSpPr txBox="1"/>
          <p:nvPr/>
        </p:nvSpPr>
        <p:spPr>
          <a:xfrm>
            <a:off x="7178040" y="4377689"/>
            <a:ext cx="4663440" cy="384048"/>
          </a:xfrm>
          <a:prstGeom prst="rect">
            <a:avLst/>
          </a:prstGeom>
          <a:noFill/>
        </p:spPr>
        <p:txBody>
          <a:bodyPr wrap="square">
            <a:spAutoFit/>
          </a:bodyPr>
          <a:lstStyle/>
          <a:p>
            <a:pPr algn="l"/>
            <a:r>
              <a:rPr sz="1600" b="0">
                <a:solidFill>
                  <a:srgbClr val="C0392B"/>
                </a:solidFill>
              </a:rPr>
              <a:t>out3: −10−20−30+40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3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Module Architecture — crossbar_mac.sv</a:t>
            </a:r>
          </a:p>
        </p:txBody>
      </p:sp>
      <p:pic>
        <p:nvPicPr>
          <p:cNvPr id="5" name="Picture 4" descr="slide_module.png"/>
          <p:cNvPicPr>
            <a:picLocks noChangeAspect="1"/>
          </p:cNvPicPr>
          <p:nvPr/>
        </p:nvPicPr>
        <p:blipFill>
          <a:blip r:embed="rId2"/>
          <a:stretch>
            <a:fillRect/>
          </a:stretch>
        </p:blipFill>
        <p:spPr>
          <a:xfrm>
            <a:off x="274320" y="822960"/>
            <a:ext cx="8046720" cy="5303520"/>
          </a:xfrm>
          <a:prstGeom prst="rect">
            <a:avLst/>
          </a:prstGeom>
        </p:spPr>
      </p:pic>
      <p:sp>
        <p:nvSpPr>
          <p:cNvPr id="6" name="Rectangle 5"/>
          <p:cNvSpPr/>
          <p:nvPr/>
        </p:nvSpPr>
        <p:spPr>
          <a:xfrm>
            <a:off x="8503920" y="822960"/>
            <a:ext cx="3474720" cy="530352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41080" y="1005840"/>
            <a:ext cx="3200400" cy="347472"/>
          </a:xfrm>
          <a:prstGeom prst="rect">
            <a:avLst/>
          </a:prstGeom>
          <a:noFill/>
        </p:spPr>
        <p:txBody>
          <a:bodyPr wrap="square">
            <a:spAutoFit/>
          </a:bodyPr>
          <a:lstStyle/>
          <a:p>
            <a:pPr algn="l"/>
            <a:r>
              <a:rPr sz="1900" b="1">
                <a:solidFill>
                  <a:srgbClr val="008B8B"/>
                </a:solidFill>
              </a:rPr>
              <a:t>Ports</a:t>
            </a:r>
          </a:p>
        </p:txBody>
      </p:sp>
      <p:sp>
        <p:nvSpPr>
          <p:cNvPr id="8" name="TextBox 7"/>
          <p:cNvSpPr txBox="1"/>
          <p:nvPr/>
        </p:nvSpPr>
        <p:spPr>
          <a:xfrm>
            <a:off x="8641080" y="1403985"/>
            <a:ext cx="3200400" cy="347472"/>
          </a:xfrm>
          <a:prstGeom prst="rect">
            <a:avLst/>
          </a:prstGeom>
          <a:noFill/>
        </p:spPr>
        <p:txBody>
          <a:bodyPr wrap="square">
            <a:spAutoFit/>
          </a:bodyPr>
          <a:lstStyle/>
          <a:p>
            <a:pPr algn="l"/>
            <a:r>
              <a:rPr sz="1600" b="0">
                <a:solidFill>
                  <a:srgbClr val="2C3E50"/>
                </a:solidFill>
              </a:rPr>
              <a:t>in0–in3   8-bit signed</a:t>
            </a:r>
          </a:p>
        </p:txBody>
      </p:sp>
      <p:sp>
        <p:nvSpPr>
          <p:cNvPr id="9" name="TextBox 8"/>
          <p:cNvSpPr txBox="1"/>
          <p:nvPr/>
        </p:nvSpPr>
        <p:spPr>
          <a:xfrm>
            <a:off x="8641080" y="1739265"/>
            <a:ext cx="3200400" cy="347472"/>
          </a:xfrm>
          <a:prstGeom prst="rect">
            <a:avLst/>
          </a:prstGeom>
          <a:noFill/>
        </p:spPr>
        <p:txBody>
          <a:bodyPr wrap="square">
            <a:spAutoFit/>
          </a:bodyPr>
          <a:lstStyle/>
          <a:p>
            <a:pPr algn="l"/>
            <a:r>
              <a:rPr sz="1600" b="0">
                <a:solidFill>
                  <a:srgbClr val="2C3E50"/>
                </a:solidFill>
              </a:rPr>
              <a:t>out0–out3  10-bit signed</a:t>
            </a:r>
          </a:p>
        </p:txBody>
      </p:sp>
      <p:sp>
        <p:nvSpPr>
          <p:cNvPr id="10" name="TextBox 9"/>
          <p:cNvSpPr txBox="1"/>
          <p:nvPr/>
        </p:nvSpPr>
        <p:spPr>
          <a:xfrm>
            <a:off x="8641080" y="2074545"/>
            <a:ext cx="3200400" cy="347472"/>
          </a:xfrm>
          <a:prstGeom prst="rect">
            <a:avLst/>
          </a:prstGeom>
          <a:noFill/>
        </p:spPr>
        <p:txBody>
          <a:bodyPr wrap="square">
            <a:spAutoFit/>
          </a:bodyPr>
          <a:lstStyle/>
          <a:p>
            <a:pPr algn="l"/>
            <a:r>
              <a:rPr sz="1600" b="0">
                <a:solidFill>
                  <a:srgbClr val="2C3E50"/>
                </a:solidFill>
              </a:rPr>
              <a:t>weight_in  16-bit flat</a:t>
            </a:r>
          </a:p>
        </p:txBody>
      </p:sp>
      <p:sp>
        <p:nvSpPr>
          <p:cNvPr id="11" name="TextBox 10"/>
          <p:cNvSpPr txBox="1"/>
          <p:nvPr/>
        </p:nvSpPr>
        <p:spPr>
          <a:xfrm>
            <a:off x="8641080" y="2409825"/>
            <a:ext cx="3200400" cy="347472"/>
          </a:xfrm>
          <a:prstGeom prst="rect">
            <a:avLst/>
          </a:prstGeom>
          <a:noFill/>
        </p:spPr>
        <p:txBody>
          <a:bodyPr wrap="square">
            <a:spAutoFit/>
          </a:bodyPr>
          <a:lstStyle/>
          <a:p>
            <a:pPr algn="l"/>
            <a:r>
              <a:rPr sz="1600" b="0">
                <a:solidFill>
                  <a:srgbClr val="2C3E50"/>
                </a:solidFill>
              </a:rPr>
              <a:t>weight_load  1-cycle pulse</a:t>
            </a:r>
          </a:p>
        </p:txBody>
      </p:sp>
      <p:sp>
        <p:nvSpPr>
          <p:cNvPr id="12" name="TextBox 11"/>
          <p:cNvSpPr txBox="1"/>
          <p:nvPr/>
        </p:nvSpPr>
        <p:spPr>
          <a:xfrm>
            <a:off x="8641080" y="2745105"/>
            <a:ext cx="3200400" cy="347472"/>
          </a:xfrm>
          <a:prstGeom prst="rect">
            <a:avLst/>
          </a:prstGeom>
          <a:noFill/>
        </p:spPr>
        <p:txBody>
          <a:bodyPr wrap="square">
            <a:spAutoFit/>
          </a:bodyPr>
          <a:lstStyle/>
          <a:p>
            <a:pPr algn="l"/>
            <a:r>
              <a:rPr sz="1000" b="0">
                <a:solidFill>
                  <a:srgbClr val="2C3E50"/>
                </a:solidFill>
              </a:rPr>
              <a:t/>
            </a:r>
          </a:p>
        </p:txBody>
      </p:sp>
      <p:sp>
        <p:nvSpPr>
          <p:cNvPr id="13" name="TextBox 12"/>
          <p:cNvSpPr txBox="1"/>
          <p:nvPr/>
        </p:nvSpPr>
        <p:spPr>
          <a:xfrm>
            <a:off x="8641080" y="2954655"/>
            <a:ext cx="3200400" cy="347472"/>
          </a:xfrm>
          <a:prstGeom prst="rect">
            <a:avLst/>
          </a:prstGeom>
          <a:noFill/>
        </p:spPr>
        <p:txBody>
          <a:bodyPr wrap="square">
            <a:spAutoFit/>
          </a:bodyPr>
          <a:lstStyle/>
          <a:p>
            <a:pPr algn="l"/>
            <a:r>
              <a:rPr sz="1900" b="1">
                <a:solidFill>
                  <a:srgbClr val="008B8B"/>
                </a:solidFill>
              </a:rPr>
              <a:t>Pipeline</a:t>
            </a:r>
          </a:p>
        </p:txBody>
      </p:sp>
      <p:sp>
        <p:nvSpPr>
          <p:cNvPr id="14" name="TextBox 13"/>
          <p:cNvSpPr txBox="1"/>
          <p:nvPr/>
        </p:nvSpPr>
        <p:spPr>
          <a:xfrm>
            <a:off x="8641080" y="3352800"/>
            <a:ext cx="3200400" cy="347472"/>
          </a:xfrm>
          <a:prstGeom prst="rect">
            <a:avLst/>
          </a:prstGeom>
          <a:noFill/>
        </p:spPr>
        <p:txBody>
          <a:bodyPr wrap="square">
            <a:spAutoFit/>
          </a:bodyPr>
          <a:lstStyle/>
          <a:p>
            <a:pPr algn="l"/>
            <a:r>
              <a:rPr sz="1600" b="0">
                <a:solidFill>
                  <a:srgbClr val="8E44AD"/>
                </a:solidFill>
              </a:rPr>
              <a:t>① Weight register (FF)</a:t>
            </a:r>
          </a:p>
        </p:txBody>
      </p:sp>
      <p:sp>
        <p:nvSpPr>
          <p:cNvPr id="15" name="TextBox 14"/>
          <p:cNvSpPr txBox="1"/>
          <p:nvPr/>
        </p:nvSpPr>
        <p:spPr>
          <a:xfrm>
            <a:off x="8641080" y="3688080"/>
            <a:ext cx="3200400" cy="347472"/>
          </a:xfrm>
          <a:prstGeom prst="rect">
            <a:avLst/>
          </a:prstGeom>
          <a:noFill/>
        </p:spPr>
        <p:txBody>
          <a:bodyPr wrap="square">
            <a:spAutoFit/>
          </a:bodyPr>
          <a:lstStyle/>
          <a:p>
            <a:pPr algn="l"/>
            <a:r>
              <a:rPr sz="1600" b="0">
                <a:solidFill>
                  <a:srgbClr val="E67E22"/>
                </a:solidFill>
              </a:rPr>
              <a:t>② Comb. MAC (wires)</a:t>
            </a:r>
          </a:p>
        </p:txBody>
      </p:sp>
      <p:sp>
        <p:nvSpPr>
          <p:cNvPr id="16" name="TextBox 15"/>
          <p:cNvSpPr txBox="1"/>
          <p:nvPr/>
        </p:nvSpPr>
        <p:spPr>
          <a:xfrm>
            <a:off x="8641080" y="4023360"/>
            <a:ext cx="3200400" cy="347472"/>
          </a:xfrm>
          <a:prstGeom prst="rect">
            <a:avLst/>
          </a:prstGeom>
          <a:noFill/>
        </p:spPr>
        <p:txBody>
          <a:bodyPr wrap="square">
            <a:spAutoFit/>
          </a:bodyPr>
          <a:lstStyle/>
          <a:p>
            <a:pPr algn="l"/>
            <a:r>
              <a:rPr sz="1600" b="0">
                <a:solidFill>
                  <a:srgbClr val="27AE60"/>
                </a:solidFill>
              </a:rPr>
              <a:t>③ Output register (FF)</a:t>
            </a:r>
          </a:p>
        </p:txBody>
      </p:sp>
      <p:sp>
        <p:nvSpPr>
          <p:cNvPr id="17" name="TextBox 16"/>
          <p:cNvSpPr txBox="1"/>
          <p:nvPr/>
        </p:nvSpPr>
        <p:spPr>
          <a:xfrm>
            <a:off x="8641080" y="4358640"/>
            <a:ext cx="3200400" cy="347472"/>
          </a:xfrm>
          <a:prstGeom prst="rect">
            <a:avLst/>
          </a:prstGeom>
          <a:noFill/>
        </p:spPr>
        <p:txBody>
          <a:bodyPr wrap="square">
            <a:spAutoFit/>
          </a:bodyPr>
          <a:lstStyle/>
          <a:p>
            <a:pPr algn="l"/>
            <a:r>
              <a:rPr sz="1000" b="0">
                <a:solidFill>
                  <a:srgbClr val="2C3E50"/>
                </a:solidFill>
              </a:rPr>
              <a:t/>
            </a:r>
          </a:p>
        </p:txBody>
      </p:sp>
      <p:sp>
        <p:nvSpPr>
          <p:cNvPr id="18" name="TextBox 17"/>
          <p:cNvSpPr txBox="1"/>
          <p:nvPr/>
        </p:nvSpPr>
        <p:spPr>
          <a:xfrm>
            <a:off x="8641080" y="4568190"/>
            <a:ext cx="3200400" cy="347472"/>
          </a:xfrm>
          <a:prstGeom prst="rect">
            <a:avLst/>
          </a:prstGeom>
          <a:noFill/>
        </p:spPr>
        <p:txBody>
          <a:bodyPr wrap="square">
            <a:spAutoFit/>
          </a:bodyPr>
          <a:lstStyle/>
          <a:p>
            <a:pPr algn="l"/>
            <a:r>
              <a:rPr sz="1500" b="0">
                <a:solidFill>
                  <a:srgbClr val="2C3E50"/>
                </a:solidFill>
              </a:rPr>
              <a:t>Bit width: 4 × 127 = 508</a:t>
            </a:r>
          </a:p>
        </p:txBody>
      </p:sp>
      <p:sp>
        <p:nvSpPr>
          <p:cNvPr id="19" name="TextBox 18"/>
          <p:cNvSpPr txBox="1"/>
          <p:nvPr/>
        </p:nvSpPr>
        <p:spPr>
          <a:xfrm>
            <a:off x="8641080" y="4882515"/>
            <a:ext cx="3200400" cy="347472"/>
          </a:xfrm>
          <a:prstGeom prst="rect">
            <a:avLst/>
          </a:prstGeom>
          <a:noFill/>
        </p:spPr>
        <p:txBody>
          <a:bodyPr wrap="square">
            <a:spAutoFit/>
          </a:bodyPr>
          <a:lstStyle/>
          <a:p>
            <a:pPr algn="l"/>
            <a:r>
              <a:rPr sz="1500" b="0">
                <a:solidFill>
                  <a:srgbClr val="2C3E50"/>
                </a:solidFill>
              </a:rPr>
              <a:t>→ 10-bit signed is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4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Weight Encoding — 16-bit Flat Register</a:t>
            </a:r>
          </a:p>
        </p:txBody>
      </p:sp>
      <p:pic>
        <p:nvPicPr>
          <p:cNvPr id="5" name="Picture 4" descr="slide_encoding.png"/>
          <p:cNvPicPr>
            <a:picLocks noChangeAspect="1"/>
          </p:cNvPicPr>
          <p:nvPr/>
        </p:nvPicPr>
        <p:blipFill>
          <a:blip r:embed="rId2"/>
          <a:stretch>
            <a:fillRect/>
          </a:stretch>
        </p:blipFill>
        <p:spPr>
          <a:xfrm>
            <a:off x="457200" y="868680"/>
            <a:ext cx="11247120" cy="2834640"/>
          </a:xfrm>
          <a:prstGeom prst="rect">
            <a:avLst/>
          </a:prstGeom>
        </p:spPr>
      </p:pic>
      <p:sp>
        <p:nvSpPr>
          <p:cNvPr id="6" name="Rectangle 5"/>
          <p:cNvSpPr/>
          <p:nvPr/>
        </p:nvSpPr>
        <p:spPr>
          <a:xfrm>
            <a:off x="457200" y="3794760"/>
            <a:ext cx="11247120" cy="68580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840480"/>
            <a:ext cx="10881360" cy="594360"/>
          </a:xfrm>
          <a:prstGeom prst="rect">
            <a:avLst/>
          </a:prstGeom>
          <a:noFill/>
        </p:spPr>
        <p:txBody>
          <a:bodyPr wrap="square">
            <a:spAutoFit/>
          </a:bodyPr>
          <a:lstStyle/>
          <a:p>
            <a:pPr algn="ctr"/>
            <a:r>
              <a:rPr sz="2100" b="1">
                <a:solidFill>
                  <a:srgbClr val="008B8B"/>
                </a:solidFill>
              </a:rPr>
              <a:t>bit (4×i + j)  encodes  weight[i][j]        1 → +1      0 → −1</a:t>
            </a:r>
          </a:p>
        </p:txBody>
      </p:sp>
      <p:sp>
        <p:nvSpPr>
          <p:cNvPr id="8" name="Rectangle 7"/>
          <p:cNvSpPr/>
          <p:nvPr/>
        </p:nvSpPr>
        <p:spPr>
          <a:xfrm>
            <a:off x="457200" y="4617720"/>
            <a:ext cx="11247120" cy="1965960"/>
          </a:xfrm>
          <a:prstGeom prst="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663440"/>
            <a:ext cx="3657600" cy="365760"/>
          </a:xfrm>
          <a:prstGeom prst="rect">
            <a:avLst/>
          </a:prstGeom>
          <a:noFill/>
        </p:spPr>
        <p:txBody>
          <a:bodyPr wrap="square">
            <a:spAutoFit/>
          </a:bodyPr>
          <a:lstStyle/>
          <a:p>
            <a:pPr algn="l"/>
            <a:r>
              <a:rPr sz="1700" b="1">
                <a:solidFill>
                  <a:srgbClr val="2C3E50"/>
                </a:solidFill>
              </a:rPr>
              <a:t>Testbench weight matrix:</a:t>
            </a:r>
          </a:p>
        </p:txBody>
      </p:sp>
      <p:sp>
        <p:nvSpPr>
          <p:cNvPr id="10" name="TextBox 9"/>
          <p:cNvSpPr txBox="1"/>
          <p:nvPr/>
        </p:nvSpPr>
        <p:spPr>
          <a:xfrm>
            <a:off x="640080" y="5074920"/>
            <a:ext cx="10881360" cy="329184"/>
          </a:xfrm>
          <a:prstGeom prst="rect">
            <a:avLst/>
          </a:prstGeom>
          <a:noFill/>
        </p:spPr>
        <p:txBody>
          <a:bodyPr wrap="square">
            <a:spAutoFit/>
          </a:bodyPr>
          <a:lstStyle/>
          <a:p>
            <a:pPr algn="l"/>
            <a:r>
              <a:rPr sz="1600" b="0">
                <a:solidFill>
                  <a:srgbClr val="8E44AD"/>
                </a:solidFill>
              </a:rPr>
              <a:t>row 0  [+1, −1, +1, −1]   →   weight_in bits [3:0]  = 4'b0101</a:t>
            </a:r>
          </a:p>
        </p:txBody>
      </p:sp>
      <p:sp>
        <p:nvSpPr>
          <p:cNvPr id="11" name="TextBox 10"/>
          <p:cNvSpPr txBox="1"/>
          <p:nvPr/>
        </p:nvSpPr>
        <p:spPr>
          <a:xfrm>
            <a:off x="640080" y="5422392"/>
            <a:ext cx="10881360" cy="329184"/>
          </a:xfrm>
          <a:prstGeom prst="rect">
            <a:avLst/>
          </a:prstGeom>
          <a:noFill/>
        </p:spPr>
        <p:txBody>
          <a:bodyPr wrap="square">
            <a:spAutoFit/>
          </a:bodyPr>
          <a:lstStyle/>
          <a:p>
            <a:pPr algn="l"/>
            <a:r>
              <a:rPr sz="1600" b="0">
                <a:solidFill>
                  <a:srgbClr val="3498DB"/>
                </a:solidFill>
              </a:rPr>
              <a:t>row 1  [+1, +1, −1, −1]   →   weight_in bits [7:4]  = 4'b0011</a:t>
            </a:r>
          </a:p>
        </p:txBody>
      </p:sp>
      <p:sp>
        <p:nvSpPr>
          <p:cNvPr id="12" name="TextBox 11"/>
          <p:cNvSpPr txBox="1"/>
          <p:nvPr/>
        </p:nvSpPr>
        <p:spPr>
          <a:xfrm>
            <a:off x="640080" y="5769864"/>
            <a:ext cx="10881360" cy="329184"/>
          </a:xfrm>
          <a:prstGeom prst="rect">
            <a:avLst/>
          </a:prstGeom>
          <a:noFill/>
        </p:spPr>
        <p:txBody>
          <a:bodyPr wrap="square">
            <a:spAutoFit/>
          </a:bodyPr>
          <a:lstStyle/>
          <a:p>
            <a:pPr algn="l"/>
            <a:r>
              <a:rPr sz="1600" b="0">
                <a:solidFill>
                  <a:srgbClr val="E67E22"/>
                </a:solidFill>
              </a:rPr>
              <a:t>row 2  [−1, +1, +1, −1]   →   weight_in bits [11:8] = 4'b0110</a:t>
            </a:r>
          </a:p>
        </p:txBody>
      </p:sp>
      <p:sp>
        <p:nvSpPr>
          <p:cNvPr id="13" name="TextBox 12"/>
          <p:cNvSpPr txBox="1"/>
          <p:nvPr/>
        </p:nvSpPr>
        <p:spPr>
          <a:xfrm>
            <a:off x="640080" y="6117336"/>
            <a:ext cx="10881360" cy="329184"/>
          </a:xfrm>
          <a:prstGeom prst="rect">
            <a:avLst/>
          </a:prstGeom>
          <a:noFill/>
        </p:spPr>
        <p:txBody>
          <a:bodyPr wrap="square">
            <a:spAutoFit/>
          </a:bodyPr>
          <a:lstStyle/>
          <a:p>
            <a:pPr algn="l"/>
            <a:r>
              <a:rPr sz="1600" b="0">
                <a:solidFill>
                  <a:srgbClr val="27AE60"/>
                </a:solidFill>
              </a:rPr>
              <a:t>row 3  [−1, −1, −1, +1]   →   weight_in bits [15:12]= 4'b1000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5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Testbench Strategy — 2-Cycle Pipeline</a:t>
            </a:r>
          </a:p>
        </p:txBody>
      </p:sp>
      <p:pic>
        <p:nvPicPr>
          <p:cNvPr id="5" name="Picture 4" descr="slide_timing.png"/>
          <p:cNvPicPr>
            <a:picLocks noChangeAspect="1"/>
          </p:cNvPicPr>
          <p:nvPr/>
        </p:nvPicPr>
        <p:blipFill>
          <a:blip r:embed="rId2"/>
          <a:stretch>
            <a:fillRect/>
          </a:stretch>
        </p:blipFill>
        <p:spPr>
          <a:xfrm>
            <a:off x="365760" y="822960"/>
            <a:ext cx="8229600" cy="4114800"/>
          </a:xfrm>
          <a:prstGeom prst="rect">
            <a:avLst/>
          </a:prstGeom>
        </p:spPr>
      </p:pic>
      <p:sp>
        <p:nvSpPr>
          <p:cNvPr id="6" name="Rectangle 5"/>
          <p:cNvSpPr/>
          <p:nvPr/>
        </p:nvSpPr>
        <p:spPr>
          <a:xfrm>
            <a:off x="8732520" y="822960"/>
            <a:ext cx="3246120" cy="548640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0" y="960120"/>
            <a:ext cx="2926080" cy="329184"/>
          </a:xfrm>
          <a:prstGeom prst="rect">
            <a:avLst/>
          </a:prstGeom>
          <a:noFill/>
        </p:spPr>
        <p:txBody>
          <a:bodyPr wrap="square">
            <a:spAutoFit/>
          </a:bodyPr>
          <a:lstStyle/>
          <a:p>
            <a:pPr algn="l"/>
            <a:r>
              <a:rPr sz="1500" b="0">
                <a:solidFill>
                  <a:srgbClr val="8E44AD"/>
                </a:solidFill>
              </a:rPr>
              <a:t>① Assert reset</a:t>
            </a:r>
          </a:p>
        </p:txBody>
      </p:sp>
      <p:sp>
        <p:nvSpPr>
          <p:cNvPr id="8" name="TextBox 7"/>
          <p:cNvSpPr txBox="1"/>
          <p:nvPr/>
        </p:nvSpPr>
        <p:spPr>
          <a:xfrm>
            <a:off x="8869680" y="1261872"/>
            <a:ext cx="2926080" cy="329184"/>
          </a:xfrm>
          <a:prstGeom prst="rect">
            <a:avLst/>
          </a:prstGeom>
          <a:noFill/>
        </p:spPr>
        <p:txBody>
          <a:bodyPr wrap="square">
            <a:spAutoFit/>
          </a:bodyPr>
          <a:lstStyle/>
          <a:p>
            <a:pPr algn="l"/>
            <a:r>
              <a:rPr sz="1500" b="0">
                <a:solidFill>
                  <a:srgbClr val="2C3E50"/>
                </a:solidFill>
              </a:rPr>
              <a:t>   Clear all registers</a:t>
            </a:r>
          </a:p>
        </p:txBody>
      </p:sp>
      <p:sp>
        <p:nvSpPr>
          <p:cNvPr id="9" name="TextBox 8"/>
          <p:cNvSpPr txBox="1"/>
          <p:nvPr/>
        </p:nvSpPr>
        <p:spPr>
          <a:xfrm>
            <a:off x="8869680" y="1563624"/>
            <a:ext cx="2926080" cy="329184"/>
          </a:xfrm>
          <a:prstGeom prst="rect">
            <a:avLst/>
          </a:prstGeom>
          <a:noFill/>
        </p:spPr>
        <p:txBody>
          <a:bodyPr wrap="square">
            <a:spAutoFit/>
          </a:bodyPr>
          <a:lstStyle/>
          <a:p>
            <a:pPr algn="l"/>
            <a:r>
              <a:rPr sz="1500" b="0">
                <a:solidFill>
                  <a:srgbClr val="2C3E50"/>
                </a:solidFill>
              </a:rPr>
              <a:t/>
            </a:r>
          </a:p>
        </p:txBody>
      </p:sp>
      <p:sp>
        <p:nvSpPr>
          <p:cNvPr id="10" name="TextBox 9"/>
          <p:cNvSpPr txBox="1"/>
          <p:nvPr/>
        </p:nvSpPr>
        <p:spPr>
          <a:xfrm>
            <a:off x="8869680" y="1865376"/>
            <a:ext cx="2926080" cy="329184"/>
          </a:xfrm>
          <a:prstGeom prst="rect">
            <a:avLst/>
          </a:prstGeom>
          <a:noFill/>
        </p:spPr>
        <p:txBody>
          <a:bodyPr wrap="square">
            <a:spAutoFit/>
          </a:bodyPr>
          <a:lstStyle/>
          <a:p>
            <a:pPr algn="l"/>
            <a:r>
              <a:rPr sz="1500" b="0">
                <a:solidFill>
                  <a:srgbClr val="E67E22"/>
                </a:solidFill>
              </a:rPr>
              <a:t>② weight_load pulse</a:t>
            </a:r>
          </a:p>
        </p:txBody>
      </p:sp>
      <p:sp>
        <p:nvSpPr>
          <p:cNvPr id="11" name="TextBox 10"/>
          <p:cNvSpPr txBox="1"/>
          <p:nvPr/>
        </p:nvSpPr>
        <p:spPr>
          <a:xfrm>
            <a:off x="8869680" y="2167128"/>
            <a:ext cx="2926080" cy="329184"/>
          </a:xfrm>
          <a:prstGeom prst="rect">
            <a:avLst/>
          </a:prstGeom>
          <a:noFill/>
        </p:spPr>
        <p:txBody>
          <a:bodyPr wrap="square">
            <a:spAutoFit/>
          </a:bodyPr>
          <a:lstStyle/>
          <a:p>
            <a:pPr algn="l"/>
            <a:r>
              <a:rPr sz="1500" b="0">
                <a:solidFill>
                  <a:srgbClr val="2C3E50"/>
                </a:solidFill>
              </a:rPr>
              <a:t>   16-bit weight_in latched</a:t>
            </a:r>
          </a:p>
        </p:txBody>
      </p:sp>
      <p:sp>
        <p:nvSpPr>
          <p:cNvPr id="12" name="TextBox 11"/>
          <p:cNvSpPr txBox="1"/>
          <p:nvPr/>
        </p:nvSpPr>
        <p:spPr>
          <a:xfrm>
            <a:off x="8869680" y="2468880"/>
            <a:ext cx="2926080" cy="329184"/>
          </a:xfrm>
          <a:prstGeom prst="rect">
            <a:avLst/>
          </a:prstGeom>
          <a:noFill/>
        </p:spPr>
        <p:txBody>
          <a:bodyPr wrap="square">
            <a:spAutoFit/>
          </a:bodyPr>
          <a:lstStyle/>
          <a:p>
            <a:pPr algn="l"/>
            <a:r>
              <a:rPr sz="1500" b="0">
                <a:solidFill>
                  <a:srgbClr val="2C3E50"/>
                </a:solidFill>
              </a:rPr>
              <a:t>   into wreg on posedge</a:t>
            </a:r>
          </a:p>
        </p:txBody>
      </p:sp>
      <p:sp>
        <p:nvSpPr>
          <p:cNvPr id="13" name="TextBox 12"/>
          <p:cNvSpPr txBox="1"/>
          <p:nvPr/>
        </p:nvSpPr>
        <p:spPr>
          <a:xfrm>
            <a:off x="8869680" y="2770632"/>
            <a:ext cx="2926080" cy="329184"/>
          </a:xfrm>
          <a:prstGeom prst="rect">
            <a:avLst/>
          </a:prstGeom>
          <a:noFill/>
        </p:spPr>
        <p:txBody>
          <a:bodyPr wrap="square">
            <a:spAutoFit/>
          </a:bodyPr>
          <a:lstStyle/>
          <a:p>
            <a:pPr algn="l"/>
            <a:r>
              <a:rPr sz="1500" b="0">
                <a:solidFill>
                  <a:srgbClr val="2C3E50"/>
                </a:solidFill>
              </a:rPr>
              <a:t/>
            </a:r>
          </a:p>
        </p:txBody>
      </p:sp>
      <p:sp>
        <p:nvSpPr>
          <p:cNvPr id="14" name="TextBox 13"/>
          <p:cNvSpPr txBox="1"/>
          <p:nvPr/>
        </p:nvSpPr>
        <p:spPr>
          <a:xfrm>
            <a:off x="8869680" y="3072384"/>
            <a:ext cx="2926080" cy="329184"/>
          </a:xfrm>
          <a:prstGeom prst="rect">
            <a:avLst/>
          </a:prstGeom>
          <a:noFill/>
        </p:spPr>
        <p:txBody>
          <a:bodyPr wrap="square">
            <a:spAutoFit/>
          </a:bodyPr>
          <a:lstStyle/>
          <a:p>
            <a:pPr algn="l"/>
            <a:r>
              <a:rPr sz="1500" b="0">
                <a:solidFill>
                  <a:srgbClr val="3498DB"/>
                </a:solidFill>
              </a:rPr>
              <a:t>③ Weight stable</a:t>
            </a:r>
          </a:p>
        </p:txBody>
      </p:sp>
      <p:sp>
        <p:nvSpPr>
          <p:cNvPr id="15" name="TextBox 14"/>
          <p:cNvSpPr txBox="1"/>
          <p:nvPr/>
        </p:nvSpPr>
        <p:spPr>
          <a:xfrm>
            <a:off x="8869680" y="3374136"/>
            <a:ext cx="2926080" cy="329184"/>
          </a:xfrm>
          <a:prstGeom prst="rect">
            <a:avLst/>
          </a:prstGeom>
          <a:noFill/>
        </p:spPr>
        <p:txBody>
          <a:bodyPr wrap="square">
            <a:spAutoFit/>
          </a:bodyPr>
          <a:lstStyle/>
          <a:p>
            <a:pPr algn="l"/>
            <a:r>
              <a:rPr sz="1500" b="0">
                <a:solidFill>
                  <a:srgbClr val="2C3E50"/>
                </a:solidFill>
              </a:rPr>
              <a:t>   MAC computes sum0–sum3</a:t>
            </a:r>
          </a:p>
        </p:txBody>
      </p:sp>
      <p:sp>
        <p:nvSpPr>
          <p:cNvPr id="16" name="TextBox 15"/>
          <p:cNvSpPr txBox="1"/>
          <p:nvPr/>
        </p:nvSpPr>
        <p:spPr>
          <a:xfrm>
            <a:off x="8869680" y="3675888"/>
            <a:ext cx="2926080" cy="329184"/>
          </a:xfrm>
          <a:prstGeom prst="rect">
            <a:avLst/>
          </a:prstGeom>
          <a:noFill/>
        </p:spPr>
        <p:txBody>
          <a:bodyPr wrap="square">
            <a:spAutoFit/>
          </a:bodyPr>
          <a:lstStyle/>
          <a:p>
            <a:pPr algn="l"/>
            <a:r>
              <a:rPr sz="1500" b="0">
                <a:solidFill>
                  <a:srgbClr val="2C3E50"/>
                </a:solidFill>
              </a:rPr>
              <a:t/>
            </a:r>
          </a:p>
        </p:txBody>
      </p:sp>
      <p:sp>
        <p:nvSpPr>
          <p:cNvPr id="17" name="TextBox 16"/>
          <p:cNvSpPr txBox="1"/>
          <p:nvPr/>
        </p:nvSpPr>
        <p:spPr>
          <a:xfrm>
            <a:off x="8869680" y="3977640"/>
            <a:ext cx="2926080" cy="329184"/>
          </a:xfrm>
          <a:prstGeom prst="rect">
            <a:avLst/>
          </a:prstGeom>
          <a:noFill/>
        </p:spPr>
        <p:txBody>
          <a:bodyPr wrap="square">
            <a:spAutoFit/>
          </a:bodyPr>
          <a:lstStyle/>
          <a:p>
            <a:pPr algn="l"/>
            <a:r>
              <a:rPr sz="1500" b="0">
                <a:solidFill>
                  <a:srgbClr val="27AE60"/>
                </a:solidFill>
              </a:rPr>
              <a:t>④ Output registered</a:t>
            </a:r>
          </a:p>
        </p:txBody>
      </p:sp>
      <p:sp>
        <p:nvSpPr>
          <p:cNvPr id="18" name="TextBox 17"/>
          <p:cNvSpPr txBox="1"/>
          <p:nvPr/>
        </p:nvSpPr>
        <p:spPr>
          <a:xfrm>
            <a:off x="8869680" y="4279392"/>
            <a:ext cx="2926080" cy="329184"/>
          </a:xfrm>
          <a:prstGeom prst="rect">
            <a:avLst/>
          </a:prstGeom>
          <a:noFill/>
        </p:spPr>
        <p:txBody>
          <a:bodyPr wrap="square">
            <a:spAutoFit/>
          </a:bodyPr>
          <a:lstStyle/>
          <a:p>
            <a:pPr algn="l"/>
            <a:r>
              <a:rPr sz="1500" b="0">
                <a:solidFill>
                  <a:srgbClr val="2C3E50"/>
                </a:solidFill>
              </a:rPr>
              <a:t>   out0–out3 valid</a:t>
            </a:r>
          </a:p>
        </p:txBody>
      </p:sp>
      <p:sp>
        <p:nvSpPr>
          <p:cNvPr id="19" name="TextBox 18"/>
          <p:cNvSpPr txBox="1"/>
          <p:nvPr/>
        </p:nvSpPr>
        <p:spPr>
          <a:xfrm>
            <a:off x="8869680" y="4581144"/>
            <a:ext cx="2926080" cy="329184"/>
          </a:xfrm>
          <a:prstGeom prst="rect">
            <a:avLst/>
          </a:prstGeom>
          <a:noFill/>
        </p:spPr>
        <p:txBody>
          <a:bodyPr wrap="square">
            <a:spAutoFit/>
          </a:bodyPr>
          <a:lstStyle/>
          <a:p>
            <a:pPr algn="l"/>
            <a:r>
              <a:rPr sz="1500" b="0">
                <a:solidFill>
                  <a:srgbClr val="2C3E50"/>
                </a:solidFill>
              </a:rPr>
              <a:t>   2 cycles after load</a:t>
            </a:r>
          </a:p>
        </p:txBody>
      </p:sp>
      <p:sp>
        <p:nvSpPr>
          <p:cNvPr id="20" name="Rectangle 19"/>
          <p:cNvSpPr/>
          <p:nvPr/>
        </p:nvSpPr>
        <p:spPr>
          <a:xfrm>
            <a:off x="365760" y="5074920"/>
            <a:ext cx="8229600" cy="1508760"/>
          </a:xfrm>
          <a:prstGeom prst="rect">
            <a:avLst/>
          </a:prstGeom>
          <a:solidFill>
            <a:srgbClr val="1E22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120640"/>
            <a:ext cx="7863840" cy="1417320"/>
          </a:xfrm>
          <a:prstGeom prst="rect">
            <a:avLst/>
          </a:prstGeom>
          <a:noFill/>
        </p:spPr>
        <p:txBody>
          <a:bodyPr wrap="square">
            <a:spAutoFit/>
          </a:bodyPr>
          <a:lstStyle/>
          <a:p>
            <a:pPr algn="l"/>
            <a:r>
              <a:rPr sz="1400" b="0">
                <a:solidFill>
                  <a:srgbClr val="2ECC71"/>
                </a:solidFill>
              </a:rPr>
              <a:t>weight_in   = {4'b1000, 4'b0110, 4'b0011, 4'b0101};
weight_load = 1;   in0=10; in1=20; in2=30; in3=40;
@(posedge clk); #1;  weight_load = 0;
@(posedge clk); #1;  // read out0–out3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6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Simulation Results — iverilog -g2012</a:t>
            </a:r>
          </a:p>
        </p:txBody>
      </p:sp>
      <p:pic>
        <p:nvPicPr>
          <p:cNvPr id="5" name="Picture 4" descr="slide_results.png"/>
          <p:cNvPicPr>
            <a:picLocks noChangeAspect="1"/>
          </p:cNvPicPr>
          <p:nvPr/>
        </p:nvPicPr>
        <p:blipFill>
          <a:blip r:embed="rId2"/>
          <a:stretch>
            <a:fillRect/>
          </a:stretch>
        </p:blipFill>
        <p:spPr>
          <a:xfrm>
            <a:off x="365760" y="822960"/>
            <a:ext cx="7132320" cy="5303520"/>
          </a:xfrm>
          <a:prstGeom prst="rect">
            <a:avLst/>
          </a:prstGeom>
        </p:spPr>
      </p:pic>
      <p:sp>
        <p:nvSpPr>
          <p:cNvPr id="6" name="Rectangle 5"/>
          <p:cNvSpPr/>
          <p:nvPr/>
        </p:nvSpPr>
        <p:spPr>
          <a:xfrm>
            <a:off x="7680960" y="9601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033272"/>
            <a:ext cx="3977639" cy="502920"/>
          </a:xfrm>
          <a:prstGeom prst="rect">
            <a:avLst/>
          </a:prstGeom>
          <a:noFill/>
        </p:spPr>
        <p:txBody>
          <a:bodyPr wrap="square">
            <a:spAutoFit/>
          </a:bodyPr>
          <a:lstStyle/>
          <a:p>
            <a:pPr algn="l"/>
            <a:r>
              <a:rPr sz="2600" b="1">
                <a:solidFill>
                  <a:srgbClr val="2C3E50"/>
                </a:solidFill>
              </a:rPr>
              <a:t>out0 = −40</a:t>
            </a:r>
          </a:p>
        </p:txBody>
      </p:sp>
      <p:sp>
        <p:nvSpPr>
          <p:cNvPr id="8" name="TextBox 7"/>
          <p:cNvSpPr txBox="1"/>
          <p:nvPr/>
        </p:nvSpPr>
        <p:spPr>
          <a:xfrm>
            <a:off x="7818120" y="1527048"/>
            <a:ext cx="3977639" cy="457200"/>
          </a:xfrm>
          <a:prstGeom prst="rect">
            <a:avLst/>
          </a:prstGeom>
          <a:noFill/>
        </p:spPr>
        <p:txBody>
          <a:bodyPr wrap="square">
            <a:spAutoFit/>
          </a:bodyPr>
          <a:lstStyle/>
          <a:p>
            <a:pPr algn="l"/>
            <a:r>
              <a:rPr sz="1500" b="0">
                <a:solidFill>
                  <a:srgbClr val="7F8C8D"/>
                </a:solidFill>
              </a:rPr>
              <a:t>+10+20−30−40</a:t>
            </a:r>
          </a:p>
        </p:txBody>
      </p:sp>
      <p:sp>
        <p:nvSpPr>
          <p:cNvPr id="9" name="TextBox 8"/>
          <p:cNvSpPr txBox="1"/>
          <p:nvPr/>
        </p:nvSpPr>
        <p:spPr>
          <a:xfrm>
            <a:off x="9692640" y="1033272"/>
            <a:ext cx="2103120" cy="502920"/>
          </a:xfrm>
          <a:prstGeom prst="rect">
            <a:avLst/>
          </a:prstGeom>
          <a:noFill/>
        </p:spPr>
        <p:txBody>
          <a:bodyPr wrap="square">
            <a:spAutoFit/>
          </a:bodyPr>
          <a:lstStyle/>
          <a:p>
            <a:pPr algn="r"/>
            <a:r>
              <a:rPr sz="2200" b="1">
                <a:solidFill>
                  <a:srgbClr val="27AE60"/>
                </a:solidFill>
              </a:rPr>
              <a:t>✓ PASS</a:t>
            </a:r>
          </a:p>
        </p:txBody>
      </p:sp>
      <p:sp>
        <p:nvSpPr>
          <p:cNvPr id="10" name="Rectangle 9"/>
          <p:cNvSpPr/>
          <p:nvPr/>
        </p:nvSpPr>
        <p:spPr>
          <a:xfrm>
            <a:off x="7680960" y="23317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2404872"/>
            <a:ext cx="3977639" cy="502920"/>
          </a:xfrm>
          <a:prstGeom prst="rect">
            <a:avLst/>
          </a:prstGeom>
          <a:noFill/>
        </p:spPr>
        <p:txBody>
          <a:bodyPr wrap="square">
            <a:spAutoFit/>
          </a:bodyPr>
          <a:lstStyle/>
          <a:p>
            <a:pPr algn="l"/>
            <a:r>
              <a:rPr sz="2600" b="1">
                <a:solidFill>
                  <a:srgbClr val="2C3E50"/>
                </a:solidFill>
              </a:rPr>
              <a:t>out1 =   0</a:t>
            </a:r>
          </a:p>
        </p:txBody>
      </p:sp>
      <p:sp>
        <p:nvSpPr>
          <p:cNvPr id="12" name="TextBox 11"/>
          <p:cNvSpPr txBox="1"/>
          <p:nvPr/>
        </p:nvSpPr>
        <p:spPr>
          <a:xfrm>
            <a:off x="7818120" y="2898648"/>
            <a:ext cx="3977639" cy="457200"/>
          </a:xfrm>
          <a:prstGeom prst="rect">
            <a:avLst/>
          </a:prstGeom>
          <a:noFill/>
        </p:spPr>
        <p:txBody>
          <a:bodyPr wrap="square">
            <a:spAutoFit/>
          </a:bodyPr>
          <a:lstStyle/>
          <a:p>
            <a:pPr algn="l"/>
            <a:r>
              <a:rPr sz="1500" b="0">
                <a:solidFill>
                  <a:srgbClr val="7F8C8D"/>
                </a:solidFill>
              </a:rPr>
              <a:t>−10+20+30−40</a:t>
            </a:r>
          </a:p>
        </p:txBody>
      </p:sp>
      <p:sp>
        <p:nvSpPr>
          <p:cNvPr id="13" name="TextBox 12"/>
          <p:cNvSpPr txBox="1"/>
          <p:nvPr/>
        </p:nvSpPr>
        <p:spPr>
          <a:xfrm>
            <a:off x="9692640" y="2404872"/>
            <a:ext cx="2103120" cy="502920"/>
          </a:xfrm>
          <a:prstGeom prst="rect">
            <a:avLst/>
          </a:prstGeom>
          <a:noFill/>
        </p:spPr>
        <p:txBody>
          <a:bodyPr wrap="square">
            <a:spAutoFit/>
          </a:bodyPr>
          <a:lstStyle/>
          <a:p>
            <a:pPr algn="r"/>
            <a:r>
              <a:rPr sz="2200" b="1">
                <a:solidFill>
                  <a:srgbClr val="27AE60"/>
                </a:solidFill>
              </a:rPr>
              <a:t>✓ PASS</a:t>
            </a:r>
          </a:p>
        </p:txBody>
      </p:sp>
      <p:sp>
        <p:nvSpPr>
          <p:cNvPr id="14" name="Rectangle 13"/>
          <p:cNvSpPr/>
          <p:nvPr/>
        </p:nvSpPr>
        <p:spPr>
          <a:xfrm>
            <a:off x="7680960" y="37033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3776472"/>
            <a:ext cx="3977639" cy="502920"/>
          </a:xfrm>
          <a:prstGeom prst="rect">
            <a:avLst/>
          </a:prstGeom>
          <a:noFill/>
        </p:spPr>
        <p:txBody>
          <a:bodyPr wrap="square">
            <a:spAutoFit/>
          </a:bodyPr>
          <a:lstStyle/>
          <a:p>
            <a:pPr algn="l"/>
            <a:r>
              <a:rPr sz="2600" b="1">
                <a:solidFill>
                  <a:srgbClr val="2C3E50"/>
                </a:solidFill>
              </a:rPr>
              <a:t>out2 = −20</a:t>
            </a:r>
          </a:p>
        </p:txBody>
      </p:sp>
      <p:sp>
        <p:nvSpPr>
          <p:cNvPr id="16" name="TextBox 15"/>
          <p:cNvSpPr txBox="1"/>
          <p:nvPr/>
        </p:nvSpPr>
        <p:spPr>
          <a:xfrm>
            <a:off x="7818120" y="4270248"/>
            <a:ext cx="3977639" cy="457200"/>
          </a:xfrm>
          <a:prstGeom prst="rect">
            <a:avLst/>
          </a:prstGeom>
          <a:noFill/>
        </p:spPr>
        <p:txBody>
          <a:bodyPr wrap="square">
            <a:spAutoFit/>
          </a:bodyPr>
          <a:lstStyle/>
          <a:p>
            <a:pPr algn="l"/>
            <a:r>
              <a:rPr sz="1500" b="0">
                <a:solidFill>
                  <a:srgbClr val="7F8C8D"/>
                </a:solidFill>
              </a:rPr>
              <a:t>+10−20+30−40</a:t>
            </a:r>
          </a:p>
        </p:txBody>
      </p:sp>
      <p:sp>
        <p:nvSpPr>
          <p:cNvPr id="17" name="TextBox 16"/>
          <p:cNvSpPr txBox="1"/>
          <p:nvPr/>
        </p:nvSpPr>
        <p:spPr>
          <a:xfrm>
            <a:off x="9692640" y="3776472"/>
            <a:ext cx="2103120" cy="502920"/>
          </a:xfrm>
          <a:prstGeom prst="rect">
            <a:avLst/>
          </a:prstGeom>
          <a:noFill/>
        </p:spPr>
        <p:txBody>
          <a:bodyPr wrap="square">
            <a:spAutoFit/>
          </a:bodyPr>
          <a:lstStyle/>
          <a:p>
            <a:pPr algn="r"/>
            <a:r>
              <a:rPr sz="2200" b="1">
                <a:solidFill>
                  <a:srgbClr val="27AE60"/>
                </a:solidFill>
              </a:rPr>
              <a:t>✓ PASS</a:t>
            </a:r>
          </a:p>
        </p:txBody>
      </p:sp>
      <p:sp>
        <p:nvSpPr>
          <p:cNvPr id="18" name="Rectangle 17"/>
          <p:cNvSpPr/>
          <p:nvPr/>
        </p:nvSpPr>
        <p:spPr>
          <a:xfrm>
            <a:off x="7680960" y="50749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18120" y="5148072"/>
            <a:ext cx="3977639" cy="502920"/>
          </a:xfrm>
          <a:prstGeom prst="rect">
            <a:avLst/>
          </a:prstGeom>
          <a:noFill/>
        </p:spPr>
        <p:txBody>
          <a:bodyPr wrap="square">
            <a:spAutoFit/>
          </a:bodyPr>
          <a:lstStyle/>
          <a:p>
            <a:pPr algn="l"/>
            <a:r>
              <a:rPr sz="2600" b="1">
                <a:solidFill>
                  <a:srgbClr val="2C3E50"/>
                </a:solidFill>
              </a:rPr>
              <a:t>out3 = −20</a:t>
            </a:r>
          </a:p>
        </p:txBody>
      </p:sp>
      <p:sp>
        <p:nvSpPr>
          <p:cNvPr id="20" name="TextBox 19"/>
          <p:cNvSpPr txBox="1"/>
          <p:nvPr/>
        </p:nvSpPr>
        <p:spPr>
          <a:xfrm>
            <a:off x="7818120" y="5641848"/>
            <a:ext cx="3977639" cy="457200"/>
          </a:xfrm>
          <a:prstGeom prst="rect">
            <a:avLst/>
          </a:prstGeom>
          <a:noFill/>
        </p:spPr>
        <p:txBody>
          <a:bodyPr wrap="square">
            <a:spAutoFit/>
          </a:bodyPr>
          <a:lstStyle/>
          <a:p>
            <a:pPr algn="l"/>
            <a:r>
              <a:rPr sz="1500" b="0">
                <a:solidFill>
                  <a:srgbClr val="7F8C8D"/>
                </a:solidFill>
              </a:rPr>
              <a:t>−10−20−30+40</a:t>
            </a:r>
          </a:p>
        </p:txBody>
      </p:sp>
      <p:sp>
        <p:nvSpPr>
          <p:cNvPr id="21" name="TextBox 20"/>
          <p:cNvSpPr txBox="1"/>
          <p:nvPr/>
        </p:nvSpPr>
        <p:spPr>
          <a:xfrm>
            <a:off x="9692640" y="5148072"/>
            <a:ext cx="2103120" cy="502920"/>
          </a:xfrm>
          <a:prstGeom prst="rect">
            <a:avLst/>
          </a:prstGeom>
          <a:noFill/>
        </p:spPr>
        <p:txBody>
          <a:bodyPr wrap="square">
            <a:spAutoFit/>
          </a:bodyPr>
          <a:lstStyle/>
          <a:p>
            <a:pPr algn="r"/>
            <a:r>
              <a:rPr sz="2200" b="1">
                <a:solidFill>
                  <a:srgbClr val="27AE60"/>
                </a:solidFill>
              </a:rPr>
              <a:t>✓ PASS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229"/>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7 / 7</a:t>
            </a:r>
          </a:p>
        </p:txBody>
      </p:sp>
      <p:sp>
        <p:nvSpPr>
          <p:cNvPr id="4" name="TextBox 3"/>
          <p:cNvSpPr txBox="1"/>
          <p:nvPr/>
        </p:nvSpPr>
        <p:spPr>
          <a:xfrm>
            <a:off x="914400" y="365760"/>
            <a:ext cx="10332720" cy="594360"/>
          </a:xfrm>
          <a:prstGeom prst="rect">
            <a:avLst/>
          </a:prstGeom>
          <a:noFill/>
        </p:spPr>
        <p:txBody>
          <a:bodyPr wrap="square">
            <a:spAutoFit/>
          </a:bodyPr>
          <a:lstStyle/>
          <a:p>
            <a:pPr algn="ctr"/>
            <a:r>
              <a:rPr sz="3600" b="1">
                <a:solidFill>
                  <a:srgbClr val="008B8B"/>
                </a:solidFill>
              </a:rPr>
              <a:t>Summary</a:t>
            </a:r>
          </a:p>
        </p:txBody>
      </p:sp>
      <p:sp>
        <p:nvSpPr>
          <p:cNvPr id="5" name="Rectangle 4"/>
          <p:cNvSpPr/>
          <p:nvPr/>
        </p:nvSpPr>
        <p:spPr>
          <a:xfrm>
            <a:off x="731520" y="1325880"/>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99032"/>
            <a:ext cx="457200" cy="594360"/>
          </a:xfrm>
          <a:prstGeom prst="rect">
            <a:avLst/>
          </a:prstGeom>
          <a:noFill/>
        </p:spPr>
        <p:txBody>
          <a:bodyPr wrap="square">
            <a:spAutoFit/>
          </a:bodyPr>
          <a:lstStyle/>
          <a:p>
            <a:pPr algn="l"/>
            <a:r>
              <a:rPr sz="2600" b="1">
                <a:solidFill>
                  <a:srgbClr val="008B8B"/>
                </a:solidFill>
              </a:rPr>
              <a:t>✓</a:t>
            </a:r>
          </a:p>
        </p:txBody>
      </p:sp>
      <p:sp>
        <p:nvSpPr>
          <p:cNvPr id="7" name="TextBox 6"/>
          <p:cNvSpPr txBox="1"/>
          <p:nvPr/>
        </p:nvSpPr>
        <p:spPr>
          <a:xfrm>
            <a:off x="1417320" y="1435608"/>
            <a:ext cx="9875520" cy="530352"/>
          </a:xfrm>
          <a:prstGeom prst="rect">
            <a:avLst/>
          </a:prstGeom>
          <a:noFill/>
        </p:spPr>
        <p:txBody>
          <a:bodyPr wrap="square">
            <a:spAutoFit/>
          </a:bodyPr>
          <a:lstStyle/>
          <a:p>
            <a:pPr algn="l"/>
            <a:r>
              <a:rPr sz="2000" b="0">
                <a:solidFill>
                  <a:srgbClr val="FFFFFF"/>
                </a:solidFill>
              </a:rPr>
              <a:t>LLM-generated crossbar_mac.sv using Claude Sonnet 4.6</a:t>
            </a:r>
          </a:p>
        </p:txBody>
      </p:sp>
      <p:sp>
        <p:nvSpPr>
          <p:cNvPr id="8" name="Rectangle 7"/>
          <p:cNvSpPr/>
          <p:nvPr/>
        </p:nvSpPr>
        <p:spPr>
          <a:xfrm>
            <a:off x="731520" y="2221991"/>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95143"/>
            <a:ext cx="457200" cy="594360"/>
          </a:xfrm>
          <a:prstGeom prst="rect">
            <a:avLst/>
          </a:prstGeom>
          <a:noFill/>
        </p:spPr>
        <p:txBody>
          <a:bodyPr wrap="square">
            <a:spAutoFit/>
          </a:bodyPr>
          <a:lstStyle/>
          <a:p>
            <a:pPr algn="l"/>
            <a:r>
              <a:rPr sz="2600" b="1">
                <a:solidFill>
                  <a:srgbClr val="E67E22"/>
                </a:solidFill>
              </a:rPr>
              <a:t>✓</a:t>
            </a:r>
          </a:p>
        </p:txBody>
      </p:sp>
      <p:sp>
        <p:nvSpPr>
          <p:cNvPr id="10" name="TextBox 9"/>
          <p:cNvSpPr txBox="1"/>
          <p:nvPr/>
        </p:nvSpPr>
        <p:spPr>
          <a:xfrm>
            <a:off x="1417320" y="2331719"/>
            <a:ext cx="9875520" cy="530352"/>
          </a:xfrm>
          <a:prstGeom prst="rect">
            <a:avLst/>
          </a:prstGeom>
          <a:noFill/>
        </p:spPr>
        <p:txBody>
          <a:bodyPr wrap="square">
            <a:spAutoFit/>
          </a:bodyPr>
          <a:lstStyle/>
          <a:p>
            <a:pPr algn="l"/>
            <a:r>
              <a:rPr sz="2000" b="0">
                <a:solidFill>
                  <a:srgbClr val="FFFFFF"/>
                </a:solidFill>
              </a:rPr>
              <a:t>16-bit flat weight register — bit (4i+j) encodes weight[i][j]</a:t>
            </a:r>
          </a:p>
        </p:txBody>
      </p:sp>
      <p:sp>
        <p:nvSpPr>
          <p:cNvPr id="11" name="Rectangle 10"/>
          <p:cNvSpPr/>
          <p:nvPr/>
        </p:nvSpPr>
        <p:spPr>
          <a:xfrm>
            <a:off x="731520" y="3118104"/>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91256"/>
            <a:ext cx="457200" cy="594360"/>
          </a:xfrm>
          <a:prstGeom prst="rect">
            <a:avLst/>
          </a:prstGeom>
          <a:noFill/>
        </p:spPr>
        <p:txBody>
          <a:bodyPr wrap="square">
            <a:spAutoFit/>
          </a:bodyPr>
          <a:lstStyle/>
          <a:p>
            <a:pPr algn="l"/>
            <a:r>
              <a:rPr sz="2600" b="1">
                <a:solidFill>
                  <a:srgbClr val="3498DB"/>
                </a:solidFill>
              </a:rPr>
              <a:t>✓</a:t>
            </a:r>
          </a:p>
        </p:txBody>
      </p:sp>
      <p:sp>
        <p:nvSpPr>
          <p:cNvPr id="13" name="TextBox 12"/>
          <p:cNvSpPr txBox="1"/>
          <p:nvPr/>
        </p:nvSpPr>
        <p:spPr>
          <a:xfrm>
            <a:off x="1417320" y="3227832"/>
            <a:ext cx="9875520" cy="530352"/>
          </a:xfrm>
          <a:prstGeom prst="rect">
            <a:avLst/>
          </a:prstGeom>
          <a:noFill/>
        </p:spPr>
        <p:txBody>
          <a:bodyPr wrap="square">
            <a:spAutoFit/>
          </a:bodyPr>
          <a:lstStyle/>
          <a:p>
            <a:pPr algn="l"/>
            <a:r>
              <a:rPr sz="2000" b="0">
                <a:solidFill>
                  <a:srgbClr val="FFFFFF"/>
                </a:solidFill>
              </a:rPr>
              <a:t>Fully combinational MAC, registered outputs, 10-bit signed</a:t>
            </a:r>
          </a:p>
        </p:txBody>
      </p:sp>
      <p:sp>
        <p:nvSpPr>
          <p:cNvPr id="14" name="Rectangle 13"/>
          <p:cNvSpPr/>
          <p:nvPr/>
        </p:nvSpPr>
        <p:spPr>
          <a:xfrm>
            <a:off x="731520" y="4014215"/>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087367"/>
            <a:ext cx="457200" cy="594360"/>
          </a:xfrm>
          <a:prstGeom prst="rect">
            <a:avLst/>
          </a:prstGeom>
          <a:noFill/>
        </p:spPr>
        <p:txBody>
          <a:bodyPr wrap="square">
            <a:spAutoFit/>
          </a:bodyPr>
          <a:lstStyle/>
          <a:p>
            <a:pPr algn="l"/>
            <a:r>
              <a:rPr sz="2600" b="1">
                <a:solidFill>
                  <a:srgbClr val="8E44AD"/>
                </a:solidFill>
              </a:rPr>
              <a:t>✓</a:t>
            </a:r>
          </a:p>
        </p:txBody>
      </p:sp>
      <p:sp>
        <p:nvSpPr>
          <p:cNvPr id="16" name="TextBox 15"/>
          <p:cNvSpPr txBox="1"/>
          <p:nvPr/>
        </p:nvSpPr>
        <p:spPr>
          <a:xfrm>
            <a:off x="1417320" y="4123943"/>
            <a:ext cx="9875520" cy="530352"/>
          </a:xfrm>
          <a:prstGeom prst="rect">
            <a:avLst/>
          </a:prstGeom>
          <a:noFill/>
        </p:spPr>
        <p:txBody>
          <a:bodyPr wrap="square">
            <a:spAutoFit/>
          </a:bodyPr>
          <a:lstStyle/>
          <a:p>
            <a:pPr algn="l"/>
            <a:r>
              <a:rPr sz="2000" b="0">
                <a:solidFill>
                  <a:srgbClr val="FFFFFF"/>
                </a:solidFill>
              </a:rPr>
              <a:t>Testbench loads [[1,−1,1,−1],[1,1,−1,−1],[−1,1,1,−1],[−1,−1,−1,1]]</a:t>
            </a:r>
          </a:p>
        </p:txBody>
      </p:sp>
      <p:sp>
        <p:nvSpPr>
          <p:cNvPr id="17" name="Rectangle 16"/>
          <p:cNvSpPr/>
          <p:nvPr/>
        </p:nvSpPr>
        <p:spPr>
          <a:xfrm>
            <a:off x="731520" y="4910328"/>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983480"/>
            <a:ext cx="457200" cy="594360"/>
          </a:xfrm>
          <a:prstGeom prst="rect">
            <a:avLst/>
          </a:prstGeom>
          <a:noFill/>
        </p:spPr>
        <p:txBody>
          <a:bodyPr wrap="square">
            <a:spAutoFit/>
          </a:bodyPr>
          <a:lstStyle/>
          <a:p>
            <a:pPr algn="l"/>
            <a:r>
              <a:rPr sz="2600" b="1">
                <a:solidFill>
                  <a:srgbClr val="27AE60"/>
                </a:solidFill>
              </a:rPr>
              <a:t>✓</a:t>
            </a:r>
          </a:p>
        </p:txBody>
      </p:sp>
      <p:sp>
        <p:nvSpPr>
          <p:cNvPr id="19" name="TextBox 18"/>
          <p:cNvSpPr txBox="1"/>
          <p:nvPr/>
        </p:nvSpPr>
        <p:spPr>
          <a:xfrm>
            <a:off x="1417320" y="5020056"/>
            <a:ext cx="9875520" cy="530352"/>
          </a:xfrm>
          <a:prstGeom prst="rect">
            <a:avLst/>
          </a:prstGeom>
          <a:noFill/>
        </p:spPr>
        <p:txBody>
          <a:bodyPr wrap="square">
            <a:spAutoFit/>
          </a:bodyPr>
          <a:lstStyle/>
          <a:p>
            <a:pPr algn="l"/>
            <a:r>
              <a:rPr sz="2000" b="0">
                <a:solidFill>
                  <a:srgbClr val="FFFFFF"/>
                </a:solidFill>
              </a:rPr>
              <a:t>Inputs [10,20,30,40] → Simulation: 4/4 PASS  [−40, 0, −20, −20]</a:t>
            </a:r>
          </a:p>
        </p:txBody>
      </p:sp>
      <p:sp>
        <p:nvSpPr>
          <p:cNvPr id="20" name="TextBox 19"/>
          <p:cNvSpPr txBox="1"/>
          <p:nvPr/>
        </p:nvSpPr>
        <p:spPr>
          <a:xfrm>
            <a:off x="914400" y="6126480"/>
            <a:ext cx="10332720" cy="502920"/>
          </a:xfrm>
          <a:prstGeom prst="rect">
            <a:avLst/>
          </a:prstGeom>
          <a:noFill/>
        </p:spPr>
        <p:txBody>
          <a:bodyPr wrap="square">
            <a:spAutoFit/>
          </a:bodyPr>
          <a:lstStyle/>
          <a:p>
            <a:pPr algn="ctr"/>
            <a:r>
              <a:rPr sz="2400" b="1">
                <a:solidFill>
                  <a:srgbClr val="AAAAAA"/>
                </a:solidFill>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