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CF06 CLLM I had Claude Sonnet 4.6 generate a 4-by-4 binary-weight crossbar MAC unit in SystemVerilog. I'll walk through the design and the choices I made, the testbench I wrote to verify it, and then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about the crossbar — this is what I needed to build. Rows carry inputs, columns carry outputs, and at every intersection there's a weight that's either plus-one or minus-one. Each column computes a dot product every clock cycle — that's the formula at the top.</a:t>
            </a:r>
          </a:p>
          <a:p/>
          <a:p>
            <a:r>
              <a:t>For example, take column zero. You get plus-ten from row 0, plus-twenty from row 1, and then minus-thirty and minus-forty from rows 2 and 3 because those weights are negative. And so that's minus-40. The other three columns work the same way — the arithmetic is right there on the slide.</a:t>
            </a:r>
          </a:p>
          <a:p/>
          <a:p>
            <a:r>
              <a:t>So basically the spec is: four 8-bit signed inputs, a 4-by-4 weight matrix of plus-ones and minus-ones, and four output accumulators updated every clock cycle.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about the design — I structured it as three stages. And the reason I broke it into stages instead of just one big block is to keep the timing clean.</a:t>
            </a:r>
          </a:p>
          <a:p/>
          <a:p>
            <a:r>
              <a:t>The weight register at the top is a flip-flop that latches the weight matrix whenever weight_load pulses. I chose a single 16-bit flat bus for the weights instead of a 2D array — for example, loading row by row would've cost four cycles and needed an address counter. One bus, one cycle, done.</a:t>
            </a:r>
          </a:p>
          <a:p/>
          <a:p>
            <a:r>
              <a:t>The middle stage is purely combinational — just wires computing all four dot products in parallel. And then the output register latches the results on the next clock edge.</a:t>
            </a:r>
          </a:p>
          <a:p/>
          <a:p>
            <a:r>
              <a:t>For the bit width — I chose 10-bit signed outputs. For example, worst case is 4 times 127 which is roughly 508, and 10-bit signed goes up to 511. So basically that's exactly enough.</a:t>
            </a:r>
          </a:p>
          <a:p/>
          <a:p>
            <a:r>
              <a:t>And one choice I had to make about the implementation — iverilog doesn't support variable bit-selects on unpacked arrays inside always blocks. And so I switched to individual scalar ports and wires instead. That actually made the interface cleaner anyway.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about the weight encoding — this was a key design choice. The rule is: bit 4i plus j in the 16-bit register holds weight[i][j], where 1 means plus-one and 0 means minus-one.</a:t>
            </a:r>
          </a:p>
          <a:p/>
          <a:p>
            <a:r>
              <a:t>I chose this flat encoding because it lets you load the entire 4-by-4 matrix in a single clock cycle with a single signal. For example, row zero's weights are plus-one, minus-one, plus-one, minus-one — and so that maps to bits zero through three being 1, 0, 1, 0, which is exactly 0101. And then you concatenate all four rows to get the full 16-bit value.</a:t>
            </a:r>
          </a:p>
          <a:p/>
          <a:p>
            <a:r>
              <a:t>The alternative would've been a serial load — like, one row per cycle — but that adds latency and control logic. The flat register keeps the hardware simple.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about the testbench — I needed to verify two things: that the weights load correctly, and that the outputs match the hand-calculated values.</a:t>
            </a:r>
          </a:p>
          <a:p/>
          <a:p>
            <a:r>
              <a:t>The key choice here was understanding the 2-cycle pipeline. Basically here's why it matters: on the first rising edge after weight_load, the weight register latches the new weights. But the output register clocks on that same edge and it's still using the old weights. And so the correct output only appears one cycle later — cycle two.</a:t>
            </a:r>
          </a:p>
          <a:p/>
          <a:p>
            <a:r>
              <a:t>For example, if I read the output after just one cycle I'd get zeros — not that accurate. And so the testbench explicitly waits two cycles before checking.</a:t>
            </a:r>
          </a:p>
          <a:p/>
          <a:p>
            <a:r>
              <a:t>I chose the weight matrix from the assignment spec — and then applied inputs of 10, 20, 30, 40 — and hand-calculated the expected outputs before running the simulation. Like, you want to know what you're looking for before you run it, not after.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outputs came out exactly right. Out-zero is minus-40, out-one is zero, out-two and out-three are both minus-20.</a:t>
            </a:r>
          </a:p>
          <a:p/>
          <a:p>
            <a:r>
              <a:t>For example, out-zero — column zero gets plus-ten, plus-twenty, minus-thirty, minus-forty, and so that's exactly minus-40. Pretty close to what the hand calculation said.</a:t>
            </a:r>
          </a:p>
          <a:p/>
          <a:p>
            <a:r>
              <a:t>So basically every design choice held up — the flat weight register loaded in one cycle, the 2-cycle pipeline timing was correct, and the 10-bit output width handled the range. 4 out of 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wrap up — the main choices were the flat 16-bit weight register for single-cycle loading, individual scalar ports to work around iverilog's unpacked array limitation, and a 3-stage pipeline to keep the timing predictable.</a:t>
            </a:r>
          </a:p>
          <a:p/>
          <a:p>
            <a:r>
              <a:t>The testbench confirmed all four outputs match the hand-calculated values exactly. Thanks.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229"/>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12188952" cy="274320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10332720" cy="777240"/>
          </a:xfrm>
          <a:prstGeom prst="rect">
            <a:avLst/>
          </a:prstGeom>
          <a:noFill/>
        </p:spPr>
        <p:txBody>
          <a:bodyPr wrap="square">
            <a:spAutoFit/>
          </a:bodyPr>
          <a:lstStyle/>
          <a:p>
            <a:pPr algn="ctr"/>
            <a:r>
              <a:rPr sz="4600" b="1">
                <a:solidFill>
                  <a:srgbClr val="008B8B"/>
                </a:solidFill>
              </a:rPr>
              <a:t>CF06 CLLM</a:t>
            </a:r>
          </a:p>
        </p:txBody>
      </p:sp>
      <p:sp>
        <p:nvSpPr>
          <p:cNvPr id="5" name="TextBox 4"/>
          <p:cNvSpPr txBox="1"/>
          <p:nvPr/>
        </p:nvSpPr>
        <p:spPr>
          <a:xfrm>
            <a:off x="914400" y="2331720"/>
            <a:ext cx="10332720" cy="685800"/>
          </a:xfrm>
          <a:prstGeom prst="rect">
            <a:avLst/>
          </a:prstGeom>
          <a:noFill/>
        </p:spPr>
        <p:txBody>
          <a:bodyPr wrap="square">
            <a:spAutoFit/>
          </a:bodyPr>
          <a:lstStyle/>
          <a:p>
            <a:pPr algn="ctr"/>
            <a:r>
              <a:rPr sz="2800" b="0">
                <a:solidFill>
                  <a:srgbClr val="FFFFFF"/>
                </a:solidFill>
              </a:rPr>
              <a:t>4×4 Binary-Weight Crossbar MAC Unit in SystemVerilog</a:t>
            </a:r>
          </a:p>
        </p:txBody>
      </p:sp>
      <p:sp>
        <p:nvSpPr>
          <p:cNvPr id="6" name="TextBox 5"/>
          <p:cNvSpPr txBox="1"/>
          <p:nvPr/>
        </p:nvSpPr>
        <p:spPr>
          <a:xfrm>
            <a:off x="914400" y="3154680"/>
            <a:ext cx="10332720" cy="457200"/>
          </a:xfrm>
          <a:prstGeom prst="rect">
            <a:avLst/>
          </a:prstGeom>
          <a:noFill/>
        </p:spPr>
        <p:txBody>
          <a:bodyPr wrap="square">
            <a:spAutoFit/>
          </a:bodyPr>
          <a:lstStyle/>
          <a:p>
            <a:pPr algn="ctr"/>
            <a:r>
              <a:rPr sz="1700" b="0">
                <a:solidFill>
                  <a:srgbClr val="AAAAAA"/>
                </a:solidFill>
              </a:rPr>
              <a:t>ECE 410/510 Spring 2026  ·  Bao Nguyen  ·  LLM: Claude Sonnet 4.6</a:t>
            </a:r>
          </a:p>
        </p:txBody>
      </p:sp>
      <p:pic>
        <p:nvPicPr>
          <p:cNvPr id="7" name="Picture 6" descr="slide_crossbar.png"/>
          <p:cNvPicPr>
            <a:picLocks noChangeAspect="1"/>
          </p:cNvPicPr>
          <p:nvPr/>
        </p:nvPicPr>
        <p:blipFill>
          <a:blip r:embed="rId2"/>
          <a:stretch>
            <a:fillRect/>
          </a:stretch>
        </p:blipFill>
        <p:spPr>
          <a:xfrm>
            <a:off x="3474720" y="3749039"/>
            <a:ext cx="5303520" cy="2834640"/>
          </a:xfrm>
          <a:prstGeom prst="rect">
            <a:avLst/>
          </a:prstGeom>
        </p:spPr>
      </p:pic>
      <p:sp>
        <p:nvSpPr>
          <p:cNvPr id="8" name="TextBox 7"/>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1 / 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2 / 7</a:t>
            </a:r>
          </a:p>
        </p:txBody>
      </p:sp>
      <p:sp>
        <p:nvSpPr>
          <p:cNvPr id="4" name="TextBox 3"/>
          <p:cNvSpPr txBox="1"/>
          <p:nvPr/>
        </p:nvSpPr>
        <p:spPr>
          <a:xfrm>
            <a:off x="457200" y="137160"/>
            <a:ext cx="8229600" cy="594360"/>
          </a:xfrm>
          <a:prstGeom prst="rect">
            <a:avLst/>
          </a:prstGeom>
          <a:noFill/>
        </p:spPr>
        <p:txBody>
          <a:bodyPr wrap="square">
            <a:spAutoFit/>
          </a:bodyPr>
          <a:lstStyle/>
          <a:p>
            <a:pPr algn="l"/>
            <a:r>
              <a:rPr sz="3000" b="1">
                <a:solidFill>
                  <a:srgbClr val="2C3E50"/>
                </a:solidFill>
              </a:rPr>
              <a:t>What is a Crossbar MAC?</a:t>
            </a:r>
          </a:p>
        </p:txBody>
      </p:sp>
      <p:pic>
        <p:nvPicPr>
          <p:cNvPr id="5" name="Picture 4" descr="slide_crossbar.png"/>
          <p:cNvPicPr>
            <a:picLocks noChangeAspect="1"/>
          </p:cNvPicPr>
          <p:nvPr/>
        </p:nvPicPr>
        <p:blipFill>
          <a:blip r:embed="rId2"/>
          <a:stretch>
            <a:fillRect/>
          </a:stretch>
        </p:blipFill>
        <p:spPr>
          <a:xfrm>
            <a:off x="274320" y="822960"/>
            <a:ext cx="6583680" cy="5669280"/>
          </a:xfrm>
          <a:prstGeom prst="rect">
            <a:avLst/>
          </a:prstGeom>
        </p:spPr>
      </p:pic>
      <p:sp>
        <p:nvSpPr>
          <p:cNvPr id="6" name="Rectangle 5"/>
          <p:cNvSpPr/>
          <p:nvPr/>
        </p:nvSpPr>
        <p:spPr>
          <a:xfrm>
            <a:off x="7040880" y="822960"/>
            <a:ext cx="4937760" cy="5669280"/>
          </a:xfrm>
          <a:prstGeom prst="rect">
            <a:avLst/>
          </a:prstGeom>
          <a:solidFill>
            <a:srgbClr val="FFFFFF"/>
          </a:solidFill>
          <a:ln w="19050">
            <a:solidFill>
              <a:srgbClr val="008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78040" y="1005840"/>
            <a:ext cx="4663440" cy="384048"/>
          </a:xfrm>
          <a:prstGeom prst="rect">
            <a:avLst/>
          </a:prstGeom>
          <a:noFill/>
        </p:spPr>
        <p:txBody>
          <a:bodyPr wrap="square">
            <a:spAutoFit/>
          </a:bodyPr>
          <a:lstStyle/>
          <a:p>
            <a:pPr algn="l"/>
            <a:r>
              <a:rPr sz="1800" b="0">
                <a:solidFill>
                  <a:srgbClr val="2C3E50"/>
                </a:solidFill>
              </a:rPr>
              <a:t>Rows carry inputs, columns carry outputs</a:t>
            </a:r>
          </a:p>
        </p:txBody>
      </p:sp>
      <p:sp>
        <p:nvSpPr>
          <p:cNvPr id="8" name="TextBox 7"/>
          <p:cNvSpPr txBox="1"/>
          <p:nvPr/>
        </p:nvSpPr>
        <p:spPr>
          <a:xfrm>
            <a:off x="7178040" y="1348740"/>
            <a:ext cx="4663440" cy="384048"/>
          </a:xfrm>
          <a:prstGeom prst="rect">
            <a:avLst/>
          </a:prstGeom>
          <a:noFill/>
        </p:spPr>
        <p:txBody>
          <a:bodyPr wrap="square">
            <a:spAutoFit/>
          </a:bodyPr>
          <a:lstStyle/>
          <a:p>
            <a:pPr algn="l"/>
            <a:r>
              <a:rPr sz="1000" b="0">
                <a:solidFill>
                  <a:srgbClr val="2C3E50"/>
                </a:solidFill>
              </a:rPr>
              <a:t/>
            </a:r>
          </a:p>
        </p:txBody>
      </p:sp>
      <p:sp>
        <p:nvSpPr>
          <p:cNvPr id="9" name="TextBox 8"/>
          <p:cNvSpPr txBox="1"/>
          <p:nvPr/>
        </p:nvSpPr>
        <p:spPr>
          <a:xfrm>
            <a:off x="7178040" y="1539240"/>
            <a:ext cx="4663440" cy="384048"/>
          </a:xfrm>
          <a:prstGeom prst="rect">
            <a:avLst/>
          </a:prstGeom>
          <a:noFill/>
        </p:spPr>
        <p:txBody>
          <a:bodyPr wrap="square">
            <a:spAutoFit/>
          </a:bodyPr>
          <a:lstStyle/>
          <a:p>
            <a:pPr algn="l"/>
            <a:r>
              <a:rPr sz="1800" b="0">
                <a:solidFill>
                  <a:srgbClr val="2C3E50"/>
                </a:solidFill>
              </a:rPr>
              <a:t>Each intersection = a weight (+1 or −1)</a:t>
            </a:r>
          </a:p>
        </p:txBody>
      </p:sp>
      <p:sp>
        <p:nvSpPr>
          <p:cNvPr id="10" name="TextBox 9"/>
          <p:cNvSpPr txBox="1"/>
          <p:nvPr/>
        </p:nvSpPr>
        <p:spPr>
          <a:xfrm>
            <a:off x="7178040" y="1882140"/>
            <a:ext cx="4663440" cy="384048"/>
          </a:xfrm>
          <a:prstGeom prst="rect">
            <a:avLst/>
          </a:prstGeom>
          <a:noFill/>
        </p:spPr>
        <p:txBody>
          <a:bodyPr wrap="square">
            <a:spAutoFit/>
          </a:bodyPr>
          <a:lstStyle/>
          <a:p>
            <a:pPr algn="l"/>
            <a:r>
              <a:rPr sz="1000" b="0">
                <a:solidFill>
                  <a:srgbClr val="2C3E50"/>
                </a:solidFill>
              </a:rPr>
              <a:t/>
            </a:r>
          </a:p>
        </p:txBody>
      </p:sp>
      <p:sp>
        <p:nvSpPr>
          <p:cNvPr id="11" name="TextBox 10"/>
          <p:cNvSpPr txBox="1"/>
          <p:nvPr/>
        </p:nvSpPr>
        <p:spPr>
          <a:xfrm>
            <a:off x="7178040" y="2072640"/>
            <a:ext cx="4663440" cy="384048"/>
          </a:xfrm>
          <a:prstGeom prst="rect">
            <a:avLst/>
          </a:prstGeom>
          <a:noFill/>
        </p:spPr>
        <p:txBody>
          <a:bodyPr wrap="square">
            <a:spAutoFit/>
          </a:bodyPr>
          <a:lstStyle/>
          <a:p>
            <a:pPr algn="l"/>
            <a:r>
              <a:rPr sz="1800" b="1">
                <a:solidFill>
                  <a:srgbClr val="2C3E50"/>
                </a:solidFill>
              </a:rPr>
              <a:t>Formula:</a:t>
            </a:r>
          </a:p>
        </p:txBody>
      </p:sp>
      <p:sp>
        <p:nvSpPr>
          <p:cNvPr id="12" name="TextBox 11"/>
          <p:cNvSpPr txBox="1"/>
          <p:nvPr/>
        </p:nvSpPr>
        <p:spPr>
          <a:xfrm>
            <a:off x="7178040" y="2415540"/>
            <a:ext cx="4663440" cy="384048"/>
          </a:xfrm>
          <a:prstGeom prst="rect">
            <a:avLst/>
          </a:prstGeom>
          <a:noFill/>
        </p:spPr>
        <p:txBody>
          <a:bodyPr wrap="square">
            <a:spAutoFit/>
          </a:bodyPr>
          <a:lstStyle/>
          <a:p>
            <a:pPr algn="l"/>
            <a:r>
              <a:rPr sz="2000" b="1">
                <a:solidFill>
                  <a:srgbClr val="008B8B"/>
                </a:solidFill>
              </a:rPr>
              <a:t>out[j] = Σᵢ weight[i][j] × in[i]</a:t>
            </a:r>
          </a:p>
        </p:txBody>
      </p:sp>
      <p:sp>
        <p:nvSpPr>
          <p:cNvPr id="13" name="TextBox 12"/>
          <p:cNvSpPr txBox="1"/>
          <p:nvPr/>
        </p:nvSpPr>
        <p:spPr>
          <a:xfrm>
            <a:off x="7178040" y="2796540"/>
            <a:ext cx="4663440" cy="384048"/>
          </a:xfrm>
          <a:prstGeom prst="rect">
            <a:avLst/>
          </a:prstGeom>
          <a:noFill/>
        </p:spPr>
        <p:txBody>
          <a:bodyPr wrap="square">
            <a:spAutoFit/>
          </a:bodyPr>
          <a:lstStyle/>
          <a:p>
            <a:pPr algn="l"/>
            <a:r>
              <a:rPr sz="1000" b="0">
                <a:solidFill>
                  <a:srgbClr val="2C3E50"/>
                </a:solidFill>
              </a:rPr>
              <a:t/>
            </a:r>
          </a:p>
        </p:txBody>
      </p:sp>
      <p:sp>
        <p:nvSpPr>
          <p:cNvPr id="14" name="TextBox 13"/>
          <p:cNvSpPr txBox="1"/>
          <p:nvPr/>
        </p:nvSpPr>
        <p:spPr>
          <a:xfrm>
            <a:off x="7178040" y="2987040"/>
            <a:ext cx="4663440" cy="384048"/>
          </a:xfrm>
          <a:prstGeom prst="rect">
            <a:avLst/>
          </a:prstGeom>
          <a:noFill/>
        </p:spPr>
        <p:txBody>
          <a:bodyPr wrap="square">
            <a:spAutoFit/>
          </a:bodyPr>
          <a:lstStyle/>
          <a:p>
            <a:pPr algn="l"/>
            <a:r>
              <a:rPr sz="1700" b="0">
                <a:solidFill>
                  <a:srgbClr val="2C3E50"/>
                </a:solidFill>
              </a:rPr>
              <a:t>Inputs:  [10, 20, 30, 40]</a:t>
            </a:r>
          </a:p>
        </p:txBody>
      </p:sp>
      <p:sp>
        <p:nvSpPr>
          <p:cNvPr id="15" name="TextBox 14"/>
          <p:cNvSpPr txBox="1"/>
          <p:nvPr/>
        </p:nvSpPr>
        <p:spPr>
          <a:xfrm>
            <a:off x="7178040" y="3310889"/>
            <a:ext cx="4663440" cy="384048"/>
          </a:xfrm>
          <a:prstGeom prst="rect">
            <a:avLst/>
          </a:prstGeom>
          <a:noFill/>
        </p:spPr>
        <p:txBody>
          <a:bodyPr wrap="square">
            <a:spAutoFit/>
          </a:bodyPr>
          <a:lstStyle/>
          <a:p>
            <a:pPr algn="l"/>
            <a:r>
              <a:rPr sz="800" b="0">
                <a:solidFill>
                  <a:srgbClr val="2C3E50"/>
                </a:solidFill>
              </a:rPr>
              <a:t/>
            </a:r>
          </a:p>
        </p:txBody>
      </p:sp>
      <p:sp>
        <p:nvSpPr>
          <p:cNvPr id="16" name="TextBox 15"/>
          <p:cNvSpPr txBox="1"/>
          <p:nvPr/>
        </p:nvSpPr>
        <p:spPr>
          <a:xfrm>
            <a:off x="7178040" y="3463289"/>
            <a:ext cx="4663440" cy="384048"/>
          </a:xfrm>
          <a:prstGeom prst="rect">
            <a:avLst/>
          </a:prstGeom>
          <a:noFill/>
        </p:spPr>
        <p:txBody>
          <a:bodyPr wrap="square">
            <a:spAutoFit/>
          </a:bodyPr>
          <a:lstStyle/>
          <a:p>
            <a:pPr algn="l"/>
            <a:r>
              <a:rPr sz="1600" b="0">
                <a:solidFill>
                  <a:srgbClr val="C0392B"/>
                </a:solidFill>
              </a:rPr>
              <a:t>out0: +10+20−30−40 = −40</a:t>
            </a:r>
          </a:p>
        </p:txBody>
      </p:sp>
      <p:sp>
        <p:nvSpPr>
          <p:cNvPr id="17" name="TextBox 16"/>
          <p:cNvSpPr txBox="1"/>
          <p:nvPr/>
        </p:nvSpPr>
        <p:spPr>
          <a:xfrm>
            <a:off x="7178040" y="3768089"/>
            <a:ext cx="4663440" cy="384048"/>
          </a:xfrm>
          <a:prstGeom prst="rect">
            <a:avLst/>
          </a:prstGeom>
          <a:noFill/>
        </p:spPr>
        <p:txBody>
          <a:bodyPr wrap="square">
            <a:spAutoFit/>
          </a:bodyPr>
          <a:lstStyle/>
          <a:p>
            <a:pPr algn="l"/>
            <a:r>
              <a:rPr sz="1600" b="0">
                <a:solidFill>
                  <a:srgbClr val="C0392B"/>
                </a:solidFill>
              </a:rPr>
              <a:t>out1: −10+20+30−40 =   0</a:t>
            </a:r>
          </a:p>
        </p:txBody>
      </p:sp>
      <p:sp>
        <p:nvSpPr>
          <p:cNvPr id="18" name="TextBox 17"/>
          <p:cNvSpPr txBox="1"/>
          <p:nvPr/>
        </p:nvSpPr>
        <p:spPr>
          <a:xfrm>
            <a:off x="7178040" y="4072889"/>
            <a:ext cx="4663440" cy="384048"/>
          </a:xfrm>
          <a:prstGeom prst="rect">
            <a:avLst/>
          </a:prstGeom>
          <a:noFill/>
        </p:spPr>
        <p:txBody>
          <a:bodyPr wrap="square">
            <a:spAutoFit/>
          </a:bodyPr>
          <a:lstStyle/>
          <a:p>
            <a:pPr algn="l"/>
            <a:r>
              <a:rPr sz="1600" b="0">
                <a:solidFill>
                  <a:srgbClr val="C0392B"/>
                </a:solidFill>
              </a:rPr>
              <a:t>out2: +10−20+30−40 = −20</a:t>
            </a:r>
          </a:p>
        </p:txBody>
      </p:sp>
      <p:sp>
        <p:nvSpPr>
          <p:cNvPr id="19" name="TextBox 18"/>
          <p:cNvSpPr txBox="1"/>
          <p:nvPr/>
        </p:nvSpPr>
        <p:spPr>
          <a:xfrm>
            <a:off x="7178040" y="4377689"/>
            <a:ext cx="4663440" cy="384048"/>
          </a:xfrm>
          <a:prstGeom prst="rect">
            <a:avLst/>
          </a:prstGeom>
          <a:noFill/>
        </p:spPr>
        <p:txBody>
          <a:bodyPr wrap="square">
            <a:spAutoFit/>
          </a:bodyPr>
          <a:lstStyle/>
          <a:p>
            <a:pPr algn="l"/>
            <a:r>
              <a:rPr sz="1600" b="0">
                <a:solidFill>
                  <a:srgbClr val="C0392B"/>
                </a:solidFill>
              </a:rPr>
              <a:t>out3: −10−20−30+40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3 / 7</a:t>
            </a:r>
          </a:p>
        </p:txBody>
      </p:sp>
      <p:sp>
        <p:nvSpPr>
          <p:cNvPr id="4" name="TextBox 3"/>
          <p:cNvSpPr txBox="1"/>
          <p:nvPr/>
        </p:nvSpPr>
        <p:spPr>
          <a:xfrm>
            <a:off x="457200" y="137160"/>
            <a:ext cx="10972800" cy="594360"/>
          </a:xfrm>
          <a:prstGeom prst="rect">
            <a:avLst/>
          </a:prstGeom>
          <a:noFill/>
        </p:spPr>
        <p:txBody>
          <a:bodyPr wrap="square">
            <a:spAutoFit/>
          </a:bodyPr>
          <a:lstStyle/>
          <a:p>
            <a:pPr algn="l"/>
            <a:r>
              <a:rPr sz="3000" b="1">
                <a:solidFill>
                  <a:srgbClr val="2C3E50"/>
                </a:solidFill>
              </a:rPr>
              <a:t>Module Architecture — crossbar_mac.sv</a:t>
            </a:r>
          </a:p>
        </p:txBody>
      </p:sp>
      <p:pic>
        <p:nvPicPr>
          <p:cNvPr id="5" name="Picture 4" descr="slide_module.png"/>
          <p:cNvPicPr>
            <a:picLocks noChangeAspect="1"/>
          </p:cNvPicPr>
          <p:nvPr/>
        </p:nvPicPr>
        <p:blipFill>
          <a:blip r:embed="rId2"/>
          <a:stretch>
            <a:fillRect/>
          </a:stretch>
        </p:blipFill>
        <p:spPr>
          <a:xfrm>
            <a:off x="274320" y="822960"/>
            <a:ext cx="8046720" cy="5303520"/>
          </a:xfrm>
          <a:prstGeom prst="rect">
            <a:avLst/>
          </a:prstGeom>
        </p:spPr>
      </p:pic>
      <p:sp>
        <p:nvSpPr>
          <p:cNvPr id="6" name="Rectangle 5"/>
          <p:cNvSpPr/>
          <p:nvPr/>
        </p:nvSpPr>
        <p:spPr>
          <a:xfrm>
            <a:off x="8503920" y="822960"/>
            <a:ext cx="3474720" cy="5303520"/>
          </a:xfrm>
          <a:prstGeom prst="rect">
            <a:avLst/>
          </a:prstGeom>
          <a:solidFill>
            <a:srgbClr val="FFFFFF"/>
          </a:solidFill>
          <a:ln w="19050">
            <a:solidFill>
              <a:srgbClr val="008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41080" y="1005840"/>
            <a:ext cx="3200400" cy="347472"/>
          </a:xfrm>
          <a:prstGeom prst="rect">
            <a:avLst/>
          </a:prstGeom>
          <a:noFill/>
        </p:spPr>
        <p:txBody>
          <a:bodyPr wrap="square">
            <a:spAutoFit/>
          </a:bodyPr>
          <a:lstStyle/>
          <a:p>
            <a:pPr algn="l"/>
            <a:r>
              <a:rPr sz="1900" b="1">
                <a:solidFill>
                  <a:srgbClr val="008B8B"/>
                </a:solidFill>
              </a:rPr>
              <a:t>Ports</a:t>
            </a:r>
          </a:p>
        </p:txBody>
      </p:sp>
      <p:sp>
        <p:nvSpPr>
          <p:cNvPr id="8" name="TextBox 7"/>
          <p:cNvSpPr txBox="1"/>
          <p:nvPr/>
        </p:nvSpPr>
        <p:spPr>
          <a:xfrm>
            <a:off x="8641080" y="1403985"/>
            <a:ext cx="3200400" cy="347472"/>
          </a:xfrm>
          <a:prstGeom prst="rect">
            <a:avLst/>
          </a:prstGeom>
          <a:noFill/>
        </p:spPr>
        <p:txBody>
          <a:bodyPr wrap="square">
            <a:spAutoFit/>
          </a:bodyPr>
          <a:lstStyle/>
          <a:p>
            <a:pPr algn="l"/>
            <a:r>
              <a:rPr sz="1600" b="0">
                <a:solidFill>
                  <a:srgbClr val="2C3E50"/>
                </a:solidFill>
              </a:rPr>
              <a:t>in0–in3   8-bit signed</a:t>
            </a:r>
          </a:p>
        </p:txBody>
      </p:sp>
      <p:sp>
        <p:nvSpPr>
          <p:cNvPr id="9" name="TextBox 8"/>
          <p:cNvSpPr txBox="1"/>
          <p:nvPr/>
        </p:nvSpPr>
        <p:spPr>
          <a:xfrm>
            <a:off x="8641080" y="1739265"/>
            <a:ext cx="3200400" cy="347472"/>
          </a:xfrm>
          <a:prstGeom prst="rect">
            <a:avLst/>
          </a:prstGeom>
          <a:noFill/>
        </p:spPr>
        <p:txBody>
          <a:bodyPr wrap="square">
            <a:spAutoFit/>
          </a:bodyPr>
          <a:lstStyle/>
          <a:p>
            <a:pPr algn="l"/>
            <a:r>
              <a:rPr sz="1600" b="0">
                <a:solidFill>
                  <a:srgbClr val="2C3E50"/>
                </a:solidFill>
              </a:rPr>
              <a:t>out0–out3  10-bit signed</a:t>
            </a:r>
          </a:p>
        </p:txBody>
      </p:sp>
      <p:sp>
        <p:nvSpPr>
          <p:cNvPr id="10" name="TextBox 9"/>
          <p:cNvSpPr txBox="1"/>
          <p:nvPr/>
        </p:nvSpPr>
        <p:spPr>
          <a:xfrm>
            <a:off x="8641080" y="2074545"/>
            <a:ext cx="3200400" cy="347472"/>
          </a:xfrm>
          <a:prstGeom prst="rect">
            <a:avLst/>
          </a:prstGeom>
          <a:noFill/>
        </p:spPr>
        <p:txBody>
          <a:bodyPr wrap="square">
            <a:spAutoFit/>
          </a:bodyPr>
          <a:lstStyle/>
          <a:p>
            <a:pPr algn="l"/>
            <a:r>
              <a:rPr sz="1600" b="0">
                <a:solidFill>
                  <a:srgbClr val="2C3E50"/>
                </a:solidFill>
              </a:rPr>
              <a:t>weight_in  16-bit flat</a:t>
            </a:r>
          </a:p>
        </p:txBody>
      </p:sp>
      <p:sp>
        <p:nvSpPr>
          <p:cNvPr id="11" name="TextBox 10"/>
          <p:cNvSpPr txBox="1"/>
          <p:nvPr/>
        </p:nvSpPr>
        <p:spPr>
          <a:xfrm>
            <a:off x="8641080" y="2409825"/>
            <a:ext cx="3200400" cy="347472"/>
          </a:xfrm>
          <a:prstGeom prst="rect">
            <a:avLst/>
          </a:prstGeom>
          <a:noFill/>
        </p:spPr>
        <p:txBody>
          <a:bodyPr wrap="square">
            <a:spAutoFit/>
          </a:bodyPr>
          <a:lstStyle/>
          <a:p>
            <a:pPr algn="l"/>
            <a:r>
              <a:rPr sz="1600" b="0">
                <a:solidFill>
                  <a:srgbClr val="2C3E50"/>
                </a:solidFill>
              </a:rPr>
              <a:t>weight_load  1-cycle pulse</a:t>
            </a:r>
          </a:p>
        </p:txBody>
      </p:sp>
      <p:sp>
        <p:nvSpPr>
          <p:cNvPr id="12" name="TextBox 11"/>
          <p:cNvSpPr txBox="1"/>
          <p:nvPr/>
        </p:nvSpPr>
        <p:spPr>
          <a:xfrm>
            <a:off x="8641080" y="2745105"/>
            <a:ext cx="3200400" cy="347472"/>
          </a:xfrm>
          <a:prstGeom prst="rect">
            <a:avLst/>
          </a:prstGeom>
          <a:noFill/>
        </p:spPr>
        <p:txBody>
          <a:bodyPr wrap="square">
            <a:spAutoFit/>
          </a:bodyPr>
          <a:lstStyle/>
          <a:p>
            <a:pPr algn="l"/>
            <a:r>
              <a:rPr sz="1000" b="0">
                <a:solidFill>
                  <a:srgbClr val="2C3E50"/>
                </a:solidFill>
              </a:rPr>
              <a:t/>
            </a:r>
          </a:p>
        </p:txBody>
      </p:sp>
      <p:sp>
        <p:nvSpPr>
          <p:cNvPr id="13" name="TextBox 12"/>
          <p:cNvSpPr txBox="1"/>
          <p:nvPr/>
        </p:nvSpPr>
        <p:spPr>
          <a:xfrm>
            <a:off x="8641080" y="2954655"/>
            <a:ext cx="3200400" cy="347472"/>
          </a:xfrm>
          <a:prstGeom prst="rect">
            <a:avLst/>
          </a:prstGeom>
          <a:noFill/>
        </p:spPr>
        <p:txBody>
          <a:bodyPr wrap="square">
            <a:spAutoFit/>
          </a:bodyPr>
          <a:lstStyle/>
          <a:p>
            <a:pPr algn="l"/>
            <a:r>
              <a:rPr sz="1900" b="1">
                <a:solidFill>
                  <a:srgbClr val="008B8B"/>
                </a:solidFill>
              </a:rPr>
              <a:t>Pipeline</a:t>
            </a:r>
          </a:p>
        </p:txBody>
      </p:sp>
      <p:sp>
        <p:nvSpPr>
          <p:cNvPr id="14" name="TextBox 13"/>
          <p:cNvSpPr txBox="1"/>
          <p:nvPr/>
        </p:nvSpPr>
        <p:spPr>
          <a:xfrm>
            <a:off x="8641080" y="3352800"/>
            <a:ext cx="3200400" cy="347472"/>
          </a:xfrm>
          <a:prstGeom prst="rect">
            <a:avLst/>
          </a:prstGeom>
          <a:noFill/>
        </p:spPr>
        <p:txBody>
          <a:bodyPr wrap="square">
            <a:spAutoFit/>
          </a:bodyPr>
          <a:lstStyle/>
          <a:p>
            <a:pPr algn="l"/>
            <a:r>
              <a:rPr sz="1600" b="0">
                <a:solidFill>
                  <a:srgbClr val="8E44AD"/>
                </a:solidFill>
              </a:rPr>
              <a:t>① Weight register (FF)</a:t>
            </a:r>
          </a:p>
        </p:txBody>
      </p:sp>
      <p:sp>
        <p:nvSpPr>
          <p:cNvPr id="15" name="TextBox 14"/>
          <p:cNvSpPr txBox="1"/>
          <p:nvPr/>
        </p:nvSpPr>
        <p:spPr>
          <a:xfrm>
            <a:off x="8641080" y="3688080"/>
            <a:ext cx="3200400" cy="347472"/>
          </a:xfrm>
          <a:prstGeom prst="rect">
            <a:avLst/>
          </a:prstGeom>
          <a:noFill/>
        </p:spPr>
        <p:txBody>
          <a:bodyPr wrap="square">
            <a:spAutoFit/>
          </a:bodyPr>
          <a:lstStyle/>
          <a:p>
            <a:pPr algn="l"/>
            <a:r>
              <a:rPr sz="1600" b="0">
                <a:solidFill>
                  <a:srgbClr val="E67E22"/>
                </a:solidFill>
              </a:rPr>
              <a:t>② Comb. MAC (wires)</a:t>
            </a:r>
          </a:p>
        </p:txBody>
      </p:sp>
      <p:sp>
        <p:nvSpPr>
          <p:cNvPr id="16" name="TextBox 15"/>
          <p:cNvSpPr txBox="1"/>
          <p:nvPr/>
        </p:nvSpPr>
        <p:spPr>
          <a:xfrm>
            <a:off x="8641080" y="4023360"/>
            <a:ext cx="3200400" cy="347472"/>
          </a:xfrm>
          <a:prstGeom prst="rect">
            <a:avLst/>
          </a:prstGeom>
          <a:noFill/>
        </p:spPr>
        <p:txBody>
          <a:bodyPr wrap="square">
            <a:spAutoFit/>
          </a:bodyPr>
          <a:lstStyle/>
          <a:p>
            <a:pPr algn="l"/>
            <a:r>
              <a:rPr sz="1600" b="0">
                <a:solidFill>
                  <a:srgbClr val="27AE60"/>
                </a:solidFill>
              </a:rPr>
              <a:t>③ Output register (FF)</a:t>
            </a:r>
          </a:p>
        </p:txBody>
      </p:sp>
      <p:sp>
        <p:nvSpPr>
          <p:cNvPr id="17" name="TextBox 16"/>
          <p:cNvSpPr txBox="1"/>
          <p:nvPr/>
        </p:nvSpPr>
        <p:spPr>
          <a:xfrm>
            <a:off x="8641080" y="4358640"/>
            <a:ext cx="3200400" cy="347472"/>
          </a:xfrm>
          <a:prstGeom prst="rect">
            <a:avLst/>
          </a:prstGeom>
          <a:noFill/>
        </p:spPr>
        <p:txBody>
          <a:bodyPr wrap="square">
            <a:spAutoFit/>
          </a:bodyPr>
          <a:lstStyle/>
          <a:p>
            <a:pPr algn="l"/>
            <a:r>
              <a:rPr sz="1000" b="0">
                <a:solidFill>
                  <a:srgbClr val="2C3E50"/>
                </a:solidFill>
              </a:rPr>
              <a:t/>
            </a:r>
          </a:p>
        </p:txBody>
      </p:sp>
      <p:sp>
        <p:nvSpPr>
          <p:cNvPr id="18" name="TextBox 17"/>
          <p:cNvSpPr txBox="1"/>
          <p:nvPr/>
        </p:nvSpPr>
        <p:spPr>
          <a:xfrm>
            <a:off x="8641080" y="4568190"/>
            <a:ext cx="3200400" cy="347472"/>
          </a:xfrm>
          <a:prstGeom prst="rect">
            <a:avLst/>
          </a:prstGeom>
          <a:noFill/>
        </p:spPr>
        <p:txBody>
          <a:bodyPr wrap="square">
            <a:spAutoFit/>
          </a:bodyPr>
          <a:lstStyle/>
          <a:p>
            <a:pPr algn="l"/>
            <a:r>
              <a:rPr sz="1500" b="0">
                <a:solidFill>
                  <a:srgbClr val="2C3E50"/>
                </a:solidFill>
              </a:rPr>
              <a:t>Bit width: 4 × 127 = 508</a:t>
            </a:r>
          </a:p>
        </p:txBody>
      </p:sp>
      <p:sp>
        <p:nvSpPr>
          <p:cNvPr id="19" name="TextBox 18"/>
          <p:cNvSpPr txBox="1"/>
          <p:nvPr/>
        </p:nvSpPr>
        <p:spPr>
          <a:xfrm>
            <a:off x="8641080" y="4882515"/>
            <a:ext cx="3200400" cy="347472"/>
          </a:xfrm>
          <a:prstGeom prst="rect">
            <a:avLst/>
          </a:prstGeom>
          <a:noFill/>
        </p:spPr>
        <p:txBody>
          <a:bodyPr wrap="square">
            <a:spAutoFit/>
          </a:bodyPr>
          <a:lstStyle/>
          <a:p>
            <a:pPr algn="l"/>
            <a:r>
              <a:rPr sz="1500" b="0">
                <a:solidFill>
                  <a:srgbClr val="2C3E50"/>
                </a:solidFill>
              </a:rPr>
              <a:t>→ 10-bit signed is safe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4 / 7</a:t>
            </a:r>
          </a:p>
        </p:txBody>
      </p:sp>
      <p:sp>
        <p:nvSpPr>
          <p:cNvPr id="4" name="TextBox 3"/>
          <p:cNvSpPr txBox="1"/>
          <p:nvPr/>
        </p:nvSpPr>
        <p:spPr>
          <a:xfrm>
            <a:off x="457200" y="137160"/>
            <a:ext cx="10972800" cy="594360"/>
          </a:xfrm>
          <a:prstGeom prst="rect">
            <a:avLst/>
          </a:prstGeom>
          <a:noFill/>
        </p:spPr>
        <p:txBody>
          <a:bodyPr wrap="square">
            <a:spAutoFit/>
          </a:bodyPr>
          <a:lstStyle/>
          <a:p>
            <a:pPr algn="l"/>
            <a:r>
              <a:rPr sz="3000" b="1">
                <a:solidFill>
                  <a:srgbClr val="2C3E50"/>
                </a:solidFill>
              </a:rPr>
              <a:t>Weight Encoding — 16-bit Flat Register</a:t>
            </a:r>
          </a:p>
        </p:txBody>
      </p:sp>
      <p:pic>
        <p:nvPicPr>
          <p:cNvPr id="5" name="Picture 4" descr="slide_encoding.png"/>
          <p:cNvPicPr>
            <a:picLocks noChangeAspect="1"/>
          </p:cNvPicPr>
          <p:nvPr/>
        </p:nvPicPr>
        <p:blipFill>
          <a:blip r:embed="rId2"/>
          <a:stretch>
            <a:fillRect/>
          </a:stretch>
        </p:blipFill>
        <p:spPr>
          <a:xfrm>
            <a:off x="457200" y="868680"/>
            <a:ext cx="11247120" cy="2834640"/>
          </a:xfrm>
          <a:prstGeom prst="rect">
            <a:avLst/>
          </a:prstGeom>
        </p:spPr>
      </p:pic>
      <p:sp>
        <p:nvSpPr>
          <p:cNvPr id="6" name="Rectangle 5"/>
          <p:cNvSpPr/>
          <p:nvPr/>
        </p:nvSpPr>
        <p:spPr>
          <a:xfrm>
            <a:off x="457200" y="3794760"/>
            <a:ext cx="11247120" cy="685800"/>
          </a:xfrm>
          <a:prstGeom prst="rect">
            <a:avLst/>
          </a:prstGeom>
          <a:solidFill>
            <a:srgbClr val="FFFFFF"/>
          </a:solidFill>
          <a:ln w="19050">
            <a:solidFill>
              <a:srgbClr val="008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840480"/>
            <a:ext cx="10881360" cy="594360"/>
          </a:xfrm>
          <a:prstGeom prst="rect">
            <a:avLst/>
          </a:prstGeom>
          <a:noFill/>
        </p:spPr>
        <p:txBody>
          <a:bodyPr wrap="square">
            <a:spAutoFit/>
          </a:bodyPr>
          <a:lstStyle/>
          <a:p>
            <a:pPr algn="ctr"/>
            <a:r>
              <a:rPr sz="2100" b="1">
                <a:solidFill>
                  <a:srgbClr val="008B8B"/>
                </a:solidFill>
              </a:rPr>
              <a:t>bit (4×i + j)  encodes  weight[i][j]        1 → +1      0 → −1</a:t>
            </a:r>
          </a:p>
        </p:txBody>
      </p:sp>
      <p:sp>
        <p:nvSpPr>
          <p:cNvPr id="8" name="Rectangle 7"/>
          <p:cNvSpPr/>
          <p:nvPr/>
        </p:nvSpPr>
        <p:spPr>
          <a:xfrm>
            <a:off x="457200" y="4617720"/>
            <a:ext cx="11247120" cy="1965960"/>
          </a:xfrm>
          <a:prstGeom prst="rect">
            <a:avLst/>
          </a:prstGeom>
          <a:solidFill>
            <a:srgbClr val="FFFFFF"/>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663440"/>
            <a:ext cx="3657600" cy="365760"/>
          </a:xfrm>
          <a:prstGeom prst="rect">
            <a:avLst/>
          </a:prstGeom>
          <a:noFill/>
        </p:spPr>
        <p:txBody>
          <a:bodyPr wrap="square">
            <a:spAutoFit/>
          </a:bodyPr>
          <a:lstStyle/>
          <a:p>
            <a:pPr algn="l"/>
            <a:r>
              <a:rPr sz="1700" b="1">
                <a:solidFill>
                  <a:srgbClr val="2C3E50"/>
                </a:solidFill>
              </a:rPr>
              <a:t>Testbench weight matrix:</a:t>
            </a:r>
          </a:p>
        </p:txBody>
      </p:sp>
      <p:sp>
        <p:nvSpPr>
          <p:cNvPr id="10" name="TextBox 9"/>
          <p:cNvSpPr txBox="1"/>
          <p:nvPr/>
        </p:nvSpPr>
        <p:spPr>
          <a:xfrm>
            <a:off x="640080" y="5074920"/>
            <a:ext cx="10881360" cy="329184"/>
          </a:xfrm>
          <a:prstGeom prst="rect">
            <a:avLst/>
          </a:prstGeom>
          <a:noFill/>
        </p:spPr>
        <p:txBody>
          <a:bodyPr wrap="square">
            <a:spAutoFit/>
          </a:bodyPr>
          <a:lstStyle/>
          <a:p>
            <a:pPr algn="l"/>
            <a:r>
              <a:rPr sz="1600" b="0">
                <a:solidFill>
                  <a:srgbClr val="8E44AD"/>
                </a:solidFill>
              </a:rPr>
              <a:t>row 0  [+1, −1, +1, −1]   →   weight_in bits [3:0]  = 4'b0101</a:t>
            </a:r>
          </a:p>
        </p:txBody>
      </p:sp>
      <p:sp>
        <p:nvSpPr>
          <p:cNvPr id="11" name="TextBox 10"/>
          <p:cNvSpPr txBox="1"/>
          <p:nvPr/>
        </p:nvSpPr>
        <p:spPr>
          <a:xfrm>
            <a:off x="640080" y="5422392"/>
            <a:ext cx="10881360" cy="329184"/>
          </a:xfrm>
          <a:prstGeom prst="rect">
            <a:avLst/>
          </a:prstGeom>
          <a:noFill/>
        </p:spPr>
        <p:txBody>
          <a:bodyPr wrap="square">
            <a:spAutoFit/>
          </a:bodyPr>
          <a:lstStyle/>
          <a:p>
            <a:pPr algn="l"/>
            <a:r>
              <a:rPr sz="1600" b="0">
                <a:solidFill>
                  <a:srgbClr val="3498DB"/>
                </a:solidFill>
              </a:rPr>
              <a:t>row 1  [+1, +1, −1, −1]   →   weight_in bits [7:4]  = 4'b0011</a:t>
            </a:r>
          </a:p>
        </p:txBody>
      </p:sp>
      <p:sp>
        <p:nvSpPr>
          <p:cNvPr id="12" name="TextBox 11"/>
          <p:cNvSpPr txBox="1"/>
          <p:nvPr/>
        </p:nvSpPr>
        <p:spPr>
          <a:xfrm>
            <a:off x="640080" y="5769864"/>
            <a:ext cx="10881360" cy="329184"/>
          </a:xfrm>
          <a:prstGeom prst="rect">
            <a:avLst/>
          </a:prstGeom>
          <a:noFill/>
        </p:spPr>
        <p:txBody>
          <a:bodyPr wrap="square">
            <a:spAutoFit/>
          </a:bodyPr>
          <a:lstStyle/>
          <a:p>
            <a:pPr algn="l"/>
            <a:r>
              <a:rPr sz="1600" b="0">
                <a:solidFill>
                  <a:srgbClr val="E67E22"/>
                </a:solidFill>
              </a:rPr>
              <a:t>row 2  [−1, +1, +1, −1]   →   weight_in bits [11:8] = 4'b0110</a:t>
            </a:r>
          </a:p>
        </p:txBody>
      </p:sp>
      <p:sp>
        <p:nvSpPr>
          <p:cNvPr id="13" name="TextBox 12"/>
          <p:cNvSpPr txBox="1"/>
          <p:nvPr/>
        </p:nvSpPr>
        <p:spPr>
          <a:xfrm>
            <a:off x="640080" y="6117336"/>
            <a:ext cx="10881360" cy="329184"/>
          </a:xfrm>
          <a:prstGeom prst="rect">
            <a:avLst/>
          </a:prstGeom>
          <a:noFill/>
        </p:spPr>
        <p:txBody>
          <a:bodyPr wrap="square">
            <a:spAutoFit/>
          </a:bodyPr>
          <a:lstStyle/>
          <a:p>
            <a:pPr algn="l"/>
            <a:r>
              <a:rPr sz="1600" b="0">
                <a:solidFill>
                  <a:srgbClr val="27AE60"/>
                </a:solidFill>
              </a:rPr>
              <a:t>row 3  [−1, −1, −1, +1]   →   weight_in bits [15:12]= 4'b1000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5 / 7</a:t>
            </a:r>
          </a:p>
        </p:txBody>
      </p:sp>
      <p:sp>
        <p:nvSpPr>
          <p:cNvPr id="4" name="TextBox 3"/>
          <p:cNvSpPr txBox="1"/>
          <p:nvPr/>
        </p:nvSpPr>
        <p:spPr>
          <a:xfrm>
            <a:off x="457200" y="137160"/>
            <a:ext cx="10972800" cy="594360"/>
          </a:xfrm>
          <a:prstGeom prst="rect">
            <a:avLst/>
          </a:prstGeom>
          <a:noFill/>
        </p:spPr>
        <p:txBody>
          <a:bodyPr wrap="square">
            <a:spAutoFit/>
          </a:bodyPr>
          <a:lstStyle/>
          <a:p>
            <a:pPr algn="l"/>
            <a:r>
              <a:rPr sz="3000" b="1">
                <a:solidFill>
                  <a:srgbClr val="2C3E50"/>
                </a:solidFill>
              </a:rPr>
              <a:t>Testbench Strategy — 2-Cycle Pipeline</a:t>
            </a:r>
          </a:p>
        </p:txBody>
      </p:sp>
      <p:pic>
        <p:nvPicPr>
          <p:cNvPr id="5" name="Picture 4" descr="slide_timing.png"/>
          <p:cNvPicPr>
            <a:picLocks noChangeAspect="1"/>
          </p:cNvPicPr>
          <p:nvPr/>
        </p:nvPicPr>
        <p:blipFill>
          <a:blip r:embed="rId2"/>
          <a:stretch>
            <a:fillRect/>
          </a:stretch>
        </p:blipFill>
        <p:spPr>
          <a:xfrm>
            <a:off x="365760" y="822960"/>
            <a:ext cx="8229600" cy="4114800"/>
          </a:xfrm>
          <a:prstGeom prst="rect">
            <a:avLst/>
          </a:prstGeom>
        </p:spPr>
      </p:pic>
      <p:sp>
        <p:nvSpPr>
          <p:cNvPr id="6" name="Rectangle 5"/>
          <p:cNvSpPr/>
          <p:nvPr/>
        </p:nvSpPr>
        <p:spPr>
          <a:xfrm>
            <a:off x="8732520" y="822960"/>
            <a:ext cx="3246120" cy="5486400"/>
          </a:xfrm>
          <a:prstGeom prst="rect">
            <a:avLst/>
          </a:prstGeom>
          <a:solidFill>
            <a:srgbClr val="FFFFFF"/>
          </a:solidFill>
          <a:ln w="19050">
            <a:solidFill>
              <a:srgbClr val="008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0" y="960120"/>
            <a:ext cx="2926080" cy="329184"/>
          </a:xfrm>
          <a:prstGeom prst="rect">
            <a:avLst/>
          </a:prstGeom>
          <a:noFill/>
        </p:spPr>
        <p:txBody>
          <a:bodyPr wrap="square">
            <a:spAutoFit/>
          </a:bodyPr>
          <a:lstStyle/>
          <a:p>
            <a:pPr algn="l"/>
            <a:r>
              <a:rPr sz="1500" b="0">
                <a:solidFill>
                  <a:srgbClr val="8E44AD"/>
                </a:solidFill>
              </a:rPr>
              <a:t>① Assert reset</a:t>
            </a:r>
          </a:p>
        </p:txBody>
      </p:sp>
      <p:sp>
        <p:nvSpPr>
          <p:cNvPr id="8" name="TextBox 7"/>
          <p:cNvSpPr txBox="1"/>
          <p:nvPr/>
        </p:nvSpPr>
        <p:spPr>
          <a:xfrm>
            <a:off x="8869680" y="1261872"/>
            <a:ext cx="2926080" cy="329184"/>
          </a:xfrm>
          <a:prstGeom prst="rect">
            <a:avLst/>
          </a:prstGeom>
          <a:noFill/>
        </p:spPr>
        <p:txBody>
          <a:bodyPr wrap="square">
            <a:spAutoFit/>
          </a:bodyPr>
          <a:lstStyle/>
          <a:p>
            <a:pPr algn="l"/>
            <a:r>
              <a:rPr sz="1500" b="0">
                <a:solidFill>
                  <a:srgbClr val="2C3E50"/>
                </a:solidFill>
              </a:rPr>
              <a:t>   Clear all registers</a:t>
            </a:r>
          </a:p>
        </p:txBody>
      </p:sp>
      <p:sp>
        <p:nvSpPr>
          <p:cNvPr id="9" name="TextBox 8"/>
          <p:cNvSpPr txBox="1"/>
          <p:nvPr/>
        </p:nvSpPr>
        <p:spPr>
          <a:xfrm>
            <a:off x="8869680" y="1563624"/>
            <a:ext cx="2926080" cy="329184"/>
          </a:xfrm>
          <a:prstGeom prst="rect">
            <a:avLst/>
          </a:prstGeom>
          <a:noFill/>
        </p:spPr>
        <p:txBody>
          <a:bodyPr wrap="square">
            <a:spAutoFit/>
          </a:bodyPr>
          <a:lstStyle/>
          <a:p>
            <a:pPr algn="l"/>
            <a:r>
              <a:rPr sz="1500" b="0">
                <a:solidFill>
                  <a:srgbClr val="2C3E50"/>
                </a:solidFill>
              </a:rPr>
              <a:t/>
            </a:r>
          </a:p>
        </p:txBody>
      </p:sp>
      <p:sp>
        <p:nvSpPr>
          <p:cNvPr id="10" name="TextBox 9"/>
          <p:cNvSpPr txBox="1"/>
          <p:nvPr/>
        </p:nvSpPr>
        <p:spPr>
          <a:xfrm>
            <a:off x="8869680" y="1865376"/>
            <a:ext cx="2926080" cy="329184"/>
          </a:xfrm>
          <a:prstGeom prst="rect">
            <a:avLst/>
          </a:prstGeom>
          <a:noFill/>
        </p:spPr>
        <p:txBody>
          <a:bodyPr wrap="square">
            <a:spAutoFit/>
          </a:bodyPr>
          <a:lstStyle/>
          <a:p>
            <a:pPr algn="l"/>
            <a:r>
              <a:rPr sz="1500" b="0">
                <a:solidFill>
                  <a:srgbClr val="E67E22"/>
                </a:solidFill>
              </a:rPr>
              <a:t>② weight_load pulse</a:t>
            </a:r>
          </a:p>
        </p:txBody>
      </p:sp>
      <p:sp>
        <p:nvSpPr>
          <p:cNvPr id="11" name="TextBox 10"/>
          <p:cNvSpPr txBox="1"/>
          <p:nvPr/>
        </p:nvSpPr>
        <p:spPr>
          <a:xfrm>
            <a:off x="8869680" y="2167128"/>
            <a:ext cx="2926080" cy="329184"/>
          </a:xfrm>
          <a:prstGeom prst="rect">
            <a:avLst/>
          </a:prstGeom>
          <a:noFill/>
        </p:spPr>
        <p:txBody>
          <a:bodyPr wrap="square">
            <a:spAutoFit/>
          </a:bodyPr>
          <a:lstStyle/>
          <a:p>
            <a:pPr algn="l"/>
            <a:r>
              <a:rPr sz="1500" b="0">
                <a:solidFill>
                  <a:srgbClr val="2C3E50"/>
                </a:solidFill>
              </a:rPr>
              <a:t>   16-bit weight_in latched</a:t>
            </a:r>
          </a:p>
        </p:txBody>
      </p:sp>
      <p:sp>
        <p:nvSpPr>
          <p:cNvPr id="12" name="TextBox 11"/>
          <p:cNvSpPr txBox="1"/>
          <p:nvPr/>
        </p:nvSpPr>
        <p:spPr>
          <a:xfrm>
            <a:off x="8869680" y="2468880"/>
            <a:ext cx="2926080" cy="329184"/>
          </a:xfrm>
          <a:prstGeom prst="rect">
            <a:avLst/>
          </a:prstGeom>
          <a:noFill/>
        </p:spPr>
        <p:txBody>
          <a:bodyPr wrap="square">
            <a:spAutoFit/>
          </a:bodyPr>
          <a:lstStyle/>
          <a:p>
            <a:pPr algn="l"/>
            <a:r>
              <a:rPr sz="1500" b="0">
                <a:solidFill>
                  <a:srgbClr val="2C3E50"/>
                </a:solidFill>
              </a:rPr>
              <a:t>   into wreg on posedge</a:t>
            </a:r>
          </a:p>
        </p:txBody>
      </p:sp>
      <p:sp>
        <p:nvSpPr>
          <p:cNvPr id="13" name="TextBox 12"/>
          <p:cNvSpPr txBox="1"/>
          <p:nvPr/>
        </p:nvSpPr>
        <p:spPr>
          <a:xfrm>
            <a:off x="8869680" y="2770632"/>
            <a:ext cx="2926080" cy="329184"/>
          </a:xfrm>
          <a:prstGeom prst="rect">
            <a:avLst/>
          </a:prstGeom>
          <a:noFill/>
        </p:spPr>
        <p:txBody>
          <a:bodyPr wrap="square">
            <a:spAutoFit/>
          </a:bodyPr>
          <a:lstStyle/>
          <a:p>
            <a:pPr algn="l"/>
            <a:r>
              <a:rPr sz="1500" b="0">
                <a:solidFill>
                  <a:srgbClr val="2C3E50"/>
                </a:solidFill>
              </a:rPr>
              <a:t/>
            </a:r>
          </a:p>
        </p:txBody>
      </p:sp>
      <p:sp>
        <p:nvSpPr>
          <p:cNvPr id="14" name="TextBox 13"/>
          <p:cNvSpPr txBox="1"/>
          <p:nvPr/>
        </p:nvSpPr>
        <p:spPr>
          <a:xfrm>
            <a:off x="8869680" y="3072384"/>
            <a:ext cx="2926080" cy="329184"/>
          </a:xfrm>
          <a:prstGeom prst="rect">
            <a:avLst/>
          </a:prstGeom>
          <a:noFill/>
        </p:spPr>
        <p:txBody>
          <a:bodyPr wrap="square">
            <a:spAutoFit/>
          </a:bodyPr>
          <a:lstStyle/>
          <a:p>
            <a:pPr algn="l"/>
            <a:r>
              <a:rPr sz="1500" b="0">
                <a:solidFill>
                  <a:srgbClr val="3498DB"/>
                </a:solidFill>
              </a:rPr>
              <a:t>③ Weight stable</a:t>
            </a:r>
          </a:p>
        </p:txBody>
      </p:sp>
      <p:sp>
        <p:nvSpPr>
          <p:cNvPr id="15" name="TextBox 14"/>
          <p:cNvSpPr txBox="1"/>
          <p:nvPr/>
        </p:nvSpPr>
        <p:spPr>
          <a:xfrm>
            <a:off x="8869680" y="3374136"/>
            <a:ext cx="2926080" cy="329184"/>
          </a:xfrm>
          <a:prstGeom prst="rect">
            <a:avLst/>
          </a:prstGeom>
          <a:noFill/>
        </p:spPr>
        <p:txBody>
          <a:bodyPr wrap="square">
            <a:spAutoFit/>
          </a:bodyPr>
          <a:lstStyle/>
          <a:p>
            <a:pPr algn="l"/>
            <a:r>
              <a:rPr sz="1500" b="0">
                <a:solidFill>
                  <a:srgbClr val="2C3E50"/>
                </a:solidFill>
              </a:rPr>
              <a:t>   MAC computes sum0–sum3</a:t>
            </a:r>
          </a:p>
        </p:txBody>
      </p:sp>
      <p:sp>
        <p:nvSpPr>
          <p:cNvPr id="16" name="TextBox 15"/>
          <p:cNvSpPr txBox="1"/>
          <p:nvPr/>
        </p:nvSpPr>
        <p:spPr>
          <a:xfrm>
            <a:off x="8869680" y="3675888"/>
            <a:ext cx="2926080" cy="329184"/>
          </a:xfrm>
          <a:prstGeom prst="rect">
            <a:avLst/>
          </a:prstGeom>
          <a:noFill/>
        </p:spPr>
        <p:txBody>
          <a:bodyPr wrap="square">
            <a:spAutoFit/>
          </a:bodyPr>
          <a:lstStyle/>
          <a:p>
            <a:pPr algn="l"/>
            <a:r>
              <a:rPr sz="1500" b="0">
                <a:solidFill>
                  <a:srgbClr val="2C3E50"/>
                </a:solidFill>
              </a:rPr>
              <a:t/>
            </a:r>
          </a:p>
        </p:txBody>
      </p:sp>
      <p:sp>
        <p:nvSpPr>
          <p:cNvPr id="17" name="TextBox 16"/>
          <p:cNvSpPr txBox="1"/>
          <p:nvPr/>
        </p:nvSpPr>
        <p:spPr>
          <a:xfrm>
            <a:off x="8869680" y="3977640"/>
            <a:ext cx="2926080" cy="329184"/>
          </a:xfrm>
          <a:prstGeom prst="rect">
            <a:avLst/>
          </a:prstGeom>
          <a:noFill/>
        </p:spPr>
        <p:txBody>
          <a:bodyPr wrap="square">
            <a:spAutoFit/>
          </a:bodyPr>
          <a:lstStyle/>
          <a:p>
            <a:pPr algn="l"/>
            <a:r>
              <a:rPr sz="1500" b="0">
                <a:solidFill>
                  <a:srgbClr val="27AE60"/>
                </a:solidFill>
              </a:rPr>
              <a:t>④ Output registered</a:t>
            </a:r>
          </a:p>
        </p:txBody>
      </p:sp>
      <p:sp>
        <p:nvSpPr>
          <p:cNvPr id="18" name="TextBox 17"/>
          <p:cNvSpPr txBox="1"/>
          <p:nvPr/>
        </p:nvSpPr>
        <p:spPr>
          <a:xfrm>
            <a:off x="8869680" y="4279392"/>
            <a:ext cx="2926080" cy="329184"/>
          </a:xfrm>
          <a:prstGeom prst="rect">
            <a:avLst/>
          </a:prstGeom>
          <a:noFill/>
        </p:spPr>
        <p:txBody>
          <a:bodyPr wrap="square">
            <a:spAutoFit/>
          </a:bodyPr>
          <a:lstStyle/>
          <a:p>
            <a:pPr algn="l"/>
            <a:r>
              <a:rPr sz="1500" b="0">
                <a:solidFill>
                  <a:srgbClr val="2C3E50"/>
                </a:solidFill>
              </a:rPr>
              <a:t>   out0–out3 valid</a:t>
            </a:r>
          </a:p>
        </p:txBody>
      </p:sp>
      <p:sp>
        <p:nvSpPr>
          <p:cNvPr id="19" name="TextBox 18"/>
          <p:cNvSpPr txBox="1"/>
          <p:nvPr/>
        </p:nvSpPr>
        <p:spPr>
          <a:xfrm>
            <a:off x="8869680" y="4581144"/>
            <a:ext cx="2926080" cy="329184"/>
          </a:xfrm>
          <a:prstGeom prst="rect">
            <a:avLst/>
          </a:prstGeom>
          <a:noFill/>
        </p:spPr>
        <p:txBody>
          <a:bodyPr wrap="square">
            <a:spAutoFit/>
          </a:bodyPr>
          <a:lstStyle/>
          <a:p>
            <a:pPr algn="l"/>
            <a:r>
              <a:rPr sz="1500" b="0">
                <a:solidFill>
                  <a:srgbClr val="2C3E50"/>
                </a:solidFill>
              </a:rPr>
              <a:t>   2 cycles after load</a:t>
            </a:r>
          </a:p>
        </p:txBody>
      </p:sp>
      <p:sp>
        <p:nvSpPr>
          <p:cNvPr id="20" name="Rectangle 19"/>
          <p:cNvSpPr/>
          <p:nvPr/>
        </p:nvSpPr>
        <p:spPr>
          <a:xfrm>
            <a:off x="365760" y="5074920"/>
            <a:ext cx="8229600" cy="1508760"/>
          </a:xfrm>
          <a:prstGeom prst="rect">
            <a:avLst/>
          </a:prstGeom>
          <a:solidFill>
            <a:srgbClr val="1E22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120640"/>
            <a:ext cx="7863840" cy="1417320"/>
          </a:xfrm>
          <a:prstGeom prst="rect">
            <a:avLst/>
          </a:prstGeom>
          <a:noFill/>
        </p:spPr>
        <p:txBody>
          <a:bodyPr wrap="square">
            <a:spAutoFit/>
          </a:bodyPr>
          <a:lstStyle/>
          <a:p>
            <a:pPr algn="l"/>
            <a:r>
              <a:rPr sz="1400" b="0">
                <a:solidFill>
                  <a:srgbClr val="2ECC71"/>
                </a:solidFill>
              </a:rPr>
              <a:t>weight_in   = {4'b1000, 4'b0110, 4'b0011, 4'b0101};
weight_load = 1;   in0=10; in1=20; in2=30; in3=40;
@(posedge clk); #1;  weight_load = 0;
@(posedge clk); #1;  // read out0–out3 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4F6"/>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6 / 7</a:t>
            </a:r>
          </a:p>
        </p:txBody>
      </p:sp>
      <p:sp>
        <p:nvSpPr>
          <p:cNvPr id="4" name="TextBox 3"/>
          <p:cNvSpPr txBox="1"/>
          <p:nvPr/>
        </p:nvSpPr>
        <p:spPr>
          <a:xfrm>
            <a:off x="457200" y="137160"/>
            <a:ext cx="10972800" cy="594360"/>
          </a:xfrm>
          <a:prstGeom prst="rect">
            <a:avLst/>
          </a:prstGeom>
          <a:noFill/>
        </p:spPr>
        <p:txBody>
          <a:bodyPr wrap="square">
            <a:spAutoFit/>
          </a:bodyPr>
          <a:lstStyle/>
          <a:p>
            <a:pPr algn="l"/>
            <a:r>
              <a:rPr sz="3000" b="1">
                <a:solidFill>
                  <a:srgbClr val="2C3E50"/>
                </a:solidFill>
              </a:rPr>
              <a:t>Simulation Results — iverilog -g2012</a:t>
            </a:r>
          </a:p>
        </p:txBody>
      </p:sp>
      <p:pic>
        <p:nvPicPr>
          <p:cNvPr id="5" name="Picture 4" descr="slide_results.png"/>
          <p:cNvPicPr>
            <a:picLocks noChangeAspect="1"/>
          </p:cNvPicPr>
          <p:nvPr/>
        </p:nvPicPr>
        <p:blipFill>
          <a:blip r:embed="rId2"/>
          <a:stretch>
            <a:fillRect/>
          </a:stretch>
        </p:blipFill>
        <p:spPr>
          <a:xfrm>
            <a:off x="365760" y="822960"/>
            <a:ext cx="7132320" cy="5303520"/>
          </a:xfrm>
          <a:prstGeom prst="rect">
            <a:avLst/>
          </a:prstGeom>
        </p:spPr>
      </p:pic>
      <p:sp>
        <p:nvSpPr>
          <p:cNvPr id="6" name="Rectangle 5"/>
          <p:cNvSpPr/>
          <p:nvPr/>
        </p:nvSpPr>
        <p:spPr>
          <a:xfrm>
            <a:off x="7680960" y="960120"/>
            <a:ext cx="4251960" cy="11887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8120" y="1033272"/>
            <a:ext cx="3977639" cy="502920"/>
          </a:xfrm>
          <a:prstGeom prst="rect">
            <a:avLst/>
          </a:prstGeom>
          <a:noFill/>
        </p:spPr>
        <p:txBody>
          <a:bodyPr wrap="square">
            <a:spAutoFit/>
          </a:bodyPr>
          <a:lstStyle/>
          <a:p>
            <a:pPr algn="l"/>
            <a:r>
              <a:rPr sz="2600" b="1">
                <a:solidFill>
                  <a:srgbClr val="2C3E50"/>
                </a:solidFill>
              </a:rPr>
              <a:t>out0 = −40</a:t>
            </a:r>
          </a:p>
        </p:txBody>
      </p:sp>
      <p:sp>
        <p:nvSpPr>
          <p:cNvPr id="8" name="TextBox 7"/>
          <p:cNvSpPr txBox="1"/>
          <p:nvPr/>
        </p:nvSpPr>
        <p:spPr>
          <a:xfrm>
            <a:off x="7818120" y="1527048"/>
            <a:ext cx="3977639" cy="457200"/>
          </a:xfrm>
          <a:prstGeom prst="rect">
            <a:avLst/>
          </a:prstGeom>
          <a:noFill/>
        </p:spPr>
        <p:txBody>
          <a:bodyPr wrap="square">
            <a:spAutoFit/>
          </a:bodyPr>
          <a:lstStyle/>
          <a:p>
            <a:pPr algn="l"/>
            <a:r>
              <a:rPr sz="1500" b="0">
                <a:solidFill>
                  <a:srgbClr val="7F8C8D"/>
                </a:solidFill>
              </a:rPr>
              <a:t>+10+20−30−40</a:t>
            </a:r>
          </a:p>
        </p:txBody>
      </p:sp>
      <p:sp>
        <p:nvSpPr>
          <p:cNvPr id="9" name="TextBox 8"/>
          <p:cNvSpPr txBox="1"/>
          <p:nvPr/>
        </p:nvSpPr>
        <p:spPr>
          <a:xfrm>
            <a:off x="9692640" y="1033272"/>
            <a:ext cx="2103120" cy="502920"/>
          </a:xfrm>
          <a:prstGeom prst="rect">
            <a:avLst/>
          </a:prstGeom>
          <a:noFill/>
        </p:spPr>
        <p:txBody>
          <a:bodyPr wrap="square">
            <a:spAutoFit/>
          </a:bodyPr>
          <a:lstStyle/>
          <a:p>
            <a:pPr algn="r"/>
            <a:r>
              <a:rPr sz="2200" b="1">
                <a:solidFill>
                  <a:srgbClr val="27AE60"/>
                </a:solidFill>
              </a:rPr>
              <a:t>✓ PASS</a:t>
            </a:r>
          </a:p>
        </p:txBody>
      </p:sp>
      <p:sp>
        <p:nvSpPr>
          <p:cNvPr id="10" name="Rectangle 9"/>
          <p:cNvSpPr/>
          <p:nvPr/>
        </p:nvSpPr>
        <p:spPr>
          <a:xfrm>
            <a:off x="7680960" y="2331720"/>
            <a:ext cx="4251960" cy="11887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2404872"/>
            <a:ext cx="3977639" cy="502920"/>
          </a:xfrm>
          <a:prstGeom prst="rect">
            <a:avLst/>
          </a:prstGeom>
          <a:noFill/>
        </p:spPr>
        <p:txBody>
          <a:bodyPr wrap="square">
            <a:spAutoFit/>
          </a:bodyPr>
          <a:lstStyle/>
          <a:p>
            <a:pPr algn="l"/>
            <a:r>
              <a:rPr sz="2600" b="1">
                <a:solidFill>
                  <a:srgbClr val="2C3E50"/>
                </a:solidFill>
              </a:rPr>
              <a:t>out1 =   0</a:t>
            </a:r>
          </a:p>
        </p:txBody>
      </p:sp>
      <p:sp>
        <p:nvSpPr>
          <p:cNvPr id="12" name="TextBox 11"/>
          <p:cNvSpPr txBox="1"/>
          <p:nvPr/>
        </p:nvSpPr>
        <p:spPr>
          <a:xfrm>
            <a:off x="7818120" y="2898648"/>
            <a:ext cx="3977639" cy="457200"/>
          </a:xfrm>
          <a:prstGeom prst="rect">
            <a:avLst/>
          </a:prstGeom>
          <a:noFill/>
        </p:spPr>
        <p:txBody>
          <a:bodyPr wrap="square">
            <a:spAutoFit/>
          </a:bodyPr>
          <a:lstStyle/>
          <a:p>
            <a:pPr algn="l"/>
            <a:r>
              <a:rPr sz="1500" b="0">
                <a:solidFill>
                  <a:srgbClr val="7F8C8D"/>
                </a:solidFill>
              </a:rPr>
              <a:t>−10+20+30−40</a:t>
            </a:r>
          </a:p>
        </p:txBody>
      </p:sp>
      <p:sp>
        <p:nvSpPr>
          <p:cNvPr id="13" name="TextBox 12"/>
          <p:cNvSpPr txBox="1"/>
          <p:nvPr/>
        </p:nvSpPr>
        <p:spPr>
          <a:xfrm>
            <a:off x="9692640" y="2404872"/>
            <a:ext cx="2103120" cy="502920"/>
          </a:xfrm>
          <a:prstGeom prst="rect">
            <a:avLst/>
          </a:prstGeom>
          <a:noFill/>
        </p:spPr>
        <p:txBody>
          <a:bodyPr wrap="square">
            <a:spAutoFit/>
          </a:bodyPr>
          <a:lstStyle/>
          <a:p>
            <a:pPr algn="r"/>
            <a:r>
              <a:rPr sz="2200" b="1">
                <a:solidFill>
                  <a:srgbClr val="27AE60"/>
                </a:solidFill>
              </a:rPr>
              <a:t>✓ PASS</a:t>
            </a:r>
          </a:p>
        </p:txBody>
      </p:sp>
      <p:sp>
        <p:nvSpPr>
          <p:cNvPr id="14" name="Rectangle 13"/>
          <p:cNvSpPr/>
          <p:nvPr/>
        </p:nvSpPr>
        <p:spPr>
          <a:xfrm>
            <a:off x="7680960" y="3703320"/>
            <a:ext cx="4251960" cy="11887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8120" y="3776472"/>
            <a:ext cx="3977639" cy="502920"/>
          </a:xfrm>
          <a:prstGeom prst="rect">
            <a:avLst/>
          </a:prstGeom>
          <a:noFill/>
        </p:spPr>
        <p:txBody>
          <a:bodyPr wrap="square">
            <a:spAutoFit/>
          </a:bodyPr>
          <a:lstStyle/>
          <a:p>
            <a:pPr algn="l"/>
            <a:r>
              <a:rPr sz="2600" b="1">
                <a:solidFill>
                  <a:srgbClr val="2C3E50"/>
                </a:solidFill>
              </a:rPr>
              <a:t>out2 = −20</a:t>
            </a:r>
          </a:p>
        </p:txBody>
      </p:sp>
      <p:sp>
        <p:nvSpPr>
          <p:cNvPr id="16" name="TextBox 15"/>
          <p:cNvSpPr txBox="1"/>
          <p:nvPr/>
        </p:nvSpPr>
        <p:spPr>
          <a:xfrm>
            <a:off x="7818120" y="4270248"/>
            <a:ext cx="3977639" cy="457200"/>
          </a:xfrm>
          <a:prstGeom prst="rect">
            <a:avLst/>
          </a:prstGeom>
          <a:noFill/>
        </p:spPr>
        <p:txBody>
          <a:bodyPr wrap="square">
            <a:spAutoFit/>
          </a:bodyPr>
          <a:lstStyle/>
          <a:p>
            <a:pPr algn="l"/>
            <a:r>
              <a:rPr sz="1500" b="0">
                <a:solidFill>
                  <a:srgbClr val="7F8C8D"/>
                </a:solidFill>
              </a:rPr>
              <a:t>+10−20+30−40</a:t>
            </a:r>
          </a:p>
        </p:txBody>
      </p:sp>
      <p:sp>
        <p:nvSpPr>
          <p:cNvPr id="17" name="TextBox 16"/>
          <p:cNvSpPr txBox="1"/>
          <p:nvPr/>
        </p:nvSpPr>
        <p:spPr>
          <a:xfrm>
            <a:off x="9692640" y="3776472"/>
            <a:ext cx="2103120" cy="502920"/>
          </a:xfrm>
          <a:prstGeom prst="rect">
            <a:avLst/>
          </a:prstGeom>
          <a:noFill/>
        </p:spPr>
        <p:txBody>
          <a:bodyPr wrap="square">
            <a:spAutoFit/>
          </a:bodyPr>
          <a:lstStyle/>
          <a:p>
            <a:pPr algn="r"/>
            <a:r>
              <a:rPr sz="2200" b="1">
                <a:solidFill>
                  <a:srgbClr val="27AE60"/>
                </a:solidFill>
              </a:rPr>
              <a:t>✓ PASS</a:t>
            </a:r>
          </a:p>
        </p:txBody>
      </p:sp>
      <p:sp>
        <p:nvSpPr>
          <p:cNvPr id="18" name="Rectangle 17"/>
          <p:cNvSpPr/>
          <p:nvPr/>
        </p:nvSpPr>
        <p:spPr>
          <a:xfrm>
            <a:off x="7680960" y="5074920"/>
            <a:ext cx="4251960" cy="11887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18120" y="5148072"/>
            <a:ext cx="3977639" cy="502920"/>
          </a:xfrm>
          <a:prstGeom prst="rect">
            <a:avLst/>
          </a:prstGeom>
          <a:noFill/>
        </p:spPr>
        <p:txBody>
          <a:bodyPr wrap="square">
            <a:spAutoFit/>
          </a:bodyPr>
          <a:lstStyle/>
          <a:p>
            <a:pPr algn="l"/>
            <a:r>
              <a:rPr sz="2600" b="1">
                <a:solidFill>
                  <a:srgbClr val="2C3E50"/>
                </a:solidFill>
              </a:rPr>
              <a:t>out3 = −20</a:t>
            </a:r>
          </a:p>
        </p:txBody>
      </p:sp>
      <p:sp>
        <p:nvSpPr>
          <p:cNvPr id="20" name="TextBox 19"/>
          <p:cNvSpPr txBox="1"/>
          <p:nvPr/>
        </p:nvSpPr>
        <p:spPr>
          <a:xfrm>
            <a:off x="7818120" y="5641848"/>
            <a:ext cx="3977639" cy="457200"/>
          </a:xfrm>
          <a:prstGeom prst="rect">
            <a:avLst/>
          </a:prstGeom>
          <a:noFill/>
        </p:spPr>
        <p:txBody>
          <a:bodyPr wrap="square">
            <a:spAutoFit/>
          </a:bodyPr>
          <a:lstStyle/>
          <a:p>
            <a:pPr algn="l"/>
            <a:r>
              <a:rPr sz="1500" b="0">
                <a:solidFill>
                  <a:srgbClr val="7F8C8D"/>
                </a:solidFill>
              </a:rPr>
              <a:t>−10−20−30+40</a:t>
            </a:r>
          </a:p>
        </p:txBody>
      </p:sp>
      <p:sp>
        <p:nvSpPr>
          <p:cNvPr id="21" name="TextBox 20"/>
          <p:cNvSpPr txBox="1"/>
          <p:nvPr/>
        </p:nvSpPr>
        <p:spPr>
          <a:xfrm>
            <a:off x="9692640" y="5148072"/>
            <a:ext cx="2103120" cy="502920"/>
          </a:xfrm>
          <a:prstGeom prst="rect">
            <a:avLst/>
          </a:prstGeom>
          <a:noFill/>
        </p:spPr>
        <p:txBody>
          <a:bodyPr wrap="square">
            <a:spAutoFit/>
          </a:bodyPr>
          <a:lstStyle/>
          <a:p>
            <a:pPr algn="r"/>
            <a:r>
              <a:rPr sz="2200" b="1">
                <a:solidFill>
                  <a:srgbClr val="27AE60"/>
                </a:solidFill>
              </a:rPr>
              <a:t>✓ PASS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229"/>
        </a:solidFill>
        <a:effectLst/>
      </p:bgPr>
    </p:bg>
    <p:spTree>
      <p:nvGrpSpPr>
        <p:cNvPr id="1" name=""/>
        <p:cNvGrpSpPr/>
        <p:nvPr/>
      </p:nvGrpSpPr>
      <p:grpSpPr/>
      <p:sp>
        <p:nvSpPr>
          <p:cNvPr id="2" name="Rectangle 1"/>
          <p:cNvSpPr/>
          <p:nvPr/>
        </p:nvSpPr>
        <p:spPr>
          <a:xfrm>
            <a:off x="0" y="0"/>
            <a:ext cx="12188952" cy="82296"/>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83112" y="6446520"/>
            <a:ext cx="914400" cy="347472"/>
          </a:xfrm>
          <a:prstGeom prst="rect">
            <a:avLst/>
          </a:prstGeom>
          <a:noFill/>
        </p:spPr>
        <p:txBody>
          <a:bodyPr wrap="square">
            <a:spAutoFit/>
          </a:bodyPr>
          <a:lstStyle/>
          <a:p>
            <a:pPr algn="r"/>
            <a:r>
              <a:rPr sz="1300" b="0">
                <a:solidFill>
                  <a:srgbClr val="999999"/>
                </a:solidFill>
              </a:rPr>
              <a:t>7 / 7</a:t>
            </a:r>
          </a:p>
        </p:txBody>
      </p:sp>
      <p:sp>
        <p:nvSpPr>
          <p:cNvPr id="4" name="TextBox 3"/>
          <p:cNvSpPr txBox="1"/>
          <p:nvPr/>
        </p:nvSpPr>
        <p:spPr>
          <a:xfrm>
            <a:off x="914400" y="365760"/>
            <a:ext cx="10332720" cy="594360"/>
          </a:xfrm>
          <a:prstGeom prst="rect">
            <a:avLst/>
          </a:prstGeom>
          <a:noFill/>
        </p:spPr>
        <p:txBody>
          <a:bodyPr wrap="square">
            <a:spAutoFit/>
          </a:bodyPr>
          <a:lstStyle/>
          <a:p>
            <a:pPr algn="ctr"/>
            <a:r>
              <a:rPr sz="3600" b="1">
                <a:solidFill>
                  <a:srgbClr val="008B8B"/>
                </a:solidFill>
              </a:rPr>
              <a:t>Summary</a:t>
            </a:r>
          </a:p>
        </p:txBody>
      </p:sp>
      <p:sp>
        <p:nvSpPr>
          <p:cNvPr id="5" name="Rectangle 4"/>
          <p:cNvSpPr/>
          <p:nvPr/>
        </p:nvSpPr>
        <p:spPr>
          <a:xfrm>
            <a:off x="731520" y="1325880"/>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399032"/>
            <a:ext cx="457200" cy="594360"/>
          </a:xfrm>
          <a:prstGeom prst="rect">
            <a:avLst/>
          </a:prstGeom>
          <a:noFill/>
        </p:spPr>
        <p:txBody>
          <a:bodyPr wrap="square">
            <a:spAutoFit/>
          </a:bodyPr>
          <a:lstStyle/>
          <a:p>
            <a:pPr algn="l"/>
            <a:r>
              <a:rPr sz="2600" b="1">
                <a:solidFill>
                  <a:srgbClr val="008B8B"/>
                </a:solidFill>
              </a:rPr>
              <a:t>✓</a:t>
            </a:r>
          </a:p>
        </p:txBody>
      </p:sp>
      <p:sp>
        <p:nvSpPr>
          <p:cNvPr id="7" name="TextBox 6"/>
          <p:cNvSpPr txBox="1"/>
          <p:nvPr/>
        </p:nvSpPr>
        <p:spPr>
          <a:xfrm>
            <a:off x="1417320" y="1435608"/>
            <a:ext cx="9875520" cy="530352"/>
          </a:xfrm>
          <a:prstGeom prst="rect">
            <a:avLst/>
          </a:prstGeom>
          <a:noFill/>
        </p:spPr>
        <p:txBody>
          <a:bodyPr wrap="square">
            <a:spAutoFit/>
          </a:bodyPr>
          <a:lstStyle/>
          <a:p>
            <a:pPr algn="l"/>
            <a:r>
              <a:rPr sz="2000" b="0">
                <a:solidFill>
                  <a:srgbClr val="FFFFFF"/>
                </a:solidFill>
              </a:rPr>
              <a:t>LLM-generated crossbar_mac.sv using Claude Sonnet 4.6</a:t>
            </a:r>
          </a:p>
        </p:txBody>
      </p:sp>
      <p:sp>
        <p:nvSpPr>
          <p:cNvPr id="8" name="Rectangle 7"/>
          <p:cNvSpPr/>
          <p:nvPr/>
        </p:nvSpPr>
        <p:spPr>
          <a:xfrm>
            <a:off x="731520" y="2221991"/>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95143"/>
            <a:ext cx="457200" cy="594360"/>
          </a:xfrm>
          <a:prstGeom prst="rect">
            <a:avLst/>
          </a:prstGeom>
          <a:noFill/>
        </p:spPr>
        <p:txBody>
          <a:bodyPr wrap="square">
            <a:spAutoFit/>
          </a:bodyPr>
          <a:lstStyle/>
          <a:p>
            <a:pPr algn="l"/>
            <a:r>
              <a:rPr sz="2600" b="1">
                <a:solidFill>
                  <a:srgbClr val="E67E22"/>
                </a:solidFill>
              </a:rPr>
              <a:t>✓</a:t>
            </a:r>
          </a:p>
        </p:txBody>
      </p:sp>
      <p:sp>
        <p:nvSpPr>
          <p:cNvPr id="10" name="TextBox 9"/>
          <p:cNvSpPr txBox="1"/>
          <p:nvPr/>
        </p:nvSpPr>
        <p:spPr>
          <a:xfrm>
            <a:off x="1417320" y="2331719"/>
            <a:ext cx="9875520" cy="530352"/>
          </a:xfrm>
          <a:prstGeom prst="rect">
            <a:avLst/>
          </a:prstGeom>
          <a:noFill/>
        </p:spPr>
        <p:txBody>
          <a:bodyPr wrap="square">
            <a:spAutoFit/>
          </a:bodyPr>
          <a:lstStyle/>
          <a:p>
            <a:pPr algn="l"/>
            <a:r>
              <a:rPr sz="2000" b="0">
                <a:solidFill>
                  <a:srgbClr val="FFFFFF"/>
                </a:solidFill>
              </a:rPr>
              <a:t>16-bit flat weight register — bit (4i+j) encodes weight[i][j]</a:t>
            </a:r>
          </a:p>
        </p:txBody>
      </p:sp>
      <p:sp>
        <p:nvSpPr>
          <p:cNvPr id="11" name="Rectangle 10"/>
          <p:cNvSpPr/>
          <p:nvPr/>
        </p:nvSpPr>
        <p:spPr>
          <a:xfrm>
            <a:off x="731520" y="3118104"/>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91256"/>
            <a:ext cx="457200" cy="594360"/>
          </a:xfrm>
          <a:prstGeom prst="rect">
            <a:avLst/>
          </a:prstGeom>
          <a:noFill/>
        </p:spPr>
        <p:txBody>
          <a:bodyPr wrap="square">
            <a:spAutoFit/>
          </a:bodyPr>
          <a:lstStyle/>
          <a:p>
            <a:pPr algn="l"/>
            <a:r>
              <a:rPr sz="2600" b="1">
                <a:solidFill>
                  <a:srgbClr val="3498DB"/>
                </a:solidFill>
              </a:rPr>
              <a:t>✓</a:t>
            </a:r>
          </a:p>
        </p:txBody>
      </p:sp>
      <p:sp>
        <p:nvSpPr>
          <p:cNvPr id="13" name="TextBox 12"/>
          <p:cNvSpPr txBox="1"/>
          <p:nvPr/>
        </p:nvSpPr>
        <p:spPr>
          <a:xfrm>
            <a:off x="1417320" y="3227832"/>
            <a:ext cx="9875520" cy="530352"/>
          </a:xfrm>
          <a:prstGeom prst="rect">
            <a:avLst/>
          </a:prstGeom>
          <a:noFill/>
        </p:spPr>
        <p:txBody>
          <a:bodyPr wrap="square">
            <a:spAutoFit/>
          </a:bodyPr>
          <a:lstStyle/>
          <a:p>
            <a:pPr algn="l"/>
            <a:r>
              <a:rPr sz="2000" b="0">
                <a:solidFill>
                  <a:srgbClr val="FFFFFF"/>
                </a:solidFill>
              </a:rPr>
              <a:t>Fully combinational MAC, registered outputs, 10-bit signed</a:t>
            </a:r>
          </a:p>
        </p:txBody>
      </p:sp>
      <p:sp>
        <p:nvSpPr>
          <p:cNvPr id="14" name="Rectangle 13"/>
          <p:cNvSpPr/>
          <p:nvPr/>
        </p:nvSpPr>
        <p:spPr>
          <a:xfrm>
            <a:off x="731520" y="4014215"/>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087367"/>
            <a:ext cx="457200" cy="594360"/>
          </a:xfrm>
          <a:prstGeom prst="rect">
            <a:avLst/>
          </a:prstGeom>
          <a:noFill/>
        </p:spPr>
        <p:txBody>
          <a:bodyPr wrap="square">
            <a:spAutoFit/>
          </a:bodyPr>
          <a:lstStyle/>
          <a:p>
            <a:pPr algn="l"/>
            <a:r>
              <a:rPr sz="2600" b="1">
                <a:solidFill>
                  <a:srgbClr val="8E44AD"/>
                </a:solidFill>
              </a:rPr>
              <a:t>✓</a:t>
            </a:r>
          </a:p>
        </p:txBody>
      </p:sp>
      <p:sp>
        <p:nvSpPr>
          <p:cNvPr id="16" name="TextBox 15"/>
          <p:cNvSpPr txBox="1"/>
          <p:nvPr/>
        </p:nvSpPr>
        <p:spPr>
          <a:xfrm>
            <a:off x="1417320" y="4123943"/>
            <a:ext cx="9875520" cy="530352"/>
          </a:xfrm>
          <a:prstGeom prst="rect">
            <a:avLst/>
          </a:prstGeom>
          <a:noFill/>
        </p:spPr>
        <p:txBody>
          <a:bodyPr wrap="square">
            <a:spAutoFit/>
          </a:bodyPr>
          <a:lstStyle/>
          <a:p>
            <a:pPr algn="l"/>
            <a:r>
              <a:rPr sz="2000" b="0">
                <a:solidFill>
                  <a:srgbClr val="FFFFFF"/>
                </a:solidFill>
              </a:rPr>
              <a:t>Testbench loads [[1,−1,1,−1],[1,1,−1,−1],[−1,1,1,−1],[−1,−1,−1,1]]</a:t>
            </a:r>
          </a:p>
        </p:txBody>
      </p:sp>
      <p:sp>
        <p:nvSpPr>
          <p:cNvPr id="17" name="Rectangle 16"/>
          <p:cNvSpPr/>
          <p:nvPr/>
        </p:nvSpPr>
        <p:spPr>
          <a:xfrm>
            <a:off x="731520" y="4910328"/>
            <a:ext cx="10698480" cy="731520"/>
          </a:xfrm>
          <a:prstGeom prst="rect">
            <a:avLst/>
          </a:prstGeom>
          <a:solidFill>
            <a:srgbClr val="252C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983480"/>
            <a:ext cx="457200" cy="594360"/>
          </a:xfrm>
          <a:prstGeom prst="rect">
            <a:avLst/>
          </a:prstGeom>
          <a:noFill/>
        </p:spPr>
        <p:txBody>
          <a:bodyPr wrap="square">
            <a:spAutoFit/>
          </a:bodyPr>
          <a:lstStyle/>
          <a:p>
            <a:pPr algn="l"/>
            <a:r>
              <a:rPr sz="2600" b="1">
                <a:solidFill>
                  <a:srgbClr val="27AE60"/>
                </a:solidFill>
              </a:rPr>
              <a:t>✓</a:t>
            </a:r>
          </a:p>
        </p:txBody>
      </p:sp>
      <p:sp>
        <p:nvSpPr>
          <p:cNvPr id="19" name="TextBox 18"/>
          <p:cNvSpPr txBox="1"/>
          <p:nvPr/>
        </p:nvSpPr>
        <p:spPr>
          <a:xfrm>
            <a:off x="1417320" y="5020056"/>
            <a:ext cx="9875520" cy="530352"/>
          </a:xfrm>
          <a:prstGeom prst="rect">
            <a:avLst/>
          </a:prstGeom>
          <a:noFill/>
        </p:spPr>
        <p:txBody>
          <a:bodyPr wrap="square">
            <a:spAutoFit/>
          </a:bodyPr>
          <a:lstStyle/>
          <a:p>
            <a:pPr algn="l"/>
            <a:r>
              <a:rPr sz="2000" b="0">
                <a:solidFill>
                  <a:srgbClr val="FFFFFF"/>
                </a:solidFill>
              </a:rPr>
              <a:t>Inputs [10,20,30,40] → Simulation: 4/4 PASS  [−40, 0, −20, −20]</a:t>
            </a:r>
          </a:p>
        </p:txBody>
      </p:sp>
      <p:sp>
        <p:nvSpPr>
          <p:cNvPr id="20" name="TextBox 19"/>
          <p:cNvSpPr txBox="1"/>
          <p:nvPr/>
        </p:nvSpPr>
        <p:spPr>
          <a:xfrm>
            <a:off x="914400" y="6126480"/>
            <a:ext cx="10332720" cy="502920"/>
          </a:xfrm>
          <a:prstGeom prst="rect">
            <a:avLst/>
          </a:prstGeom>
          <a:noFill/>
        </p:spPr>
        <p:txBody>
          <a:bodyPr wrap="square">
            <a:spAutoFit/>
          </a:bodyPr>
          <a:lstStyle/>
          <a:p>
            <a:pPr algn="ctr"/>
            <a:r>
              <a:rPr sz="2400" b="1">
                <a:solidFill>
                  <a:srgbClr val="AAAAAA"/>
                </a:solidFill>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