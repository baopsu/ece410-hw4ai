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for CF06 CLLM I had Claude Sonnet 4.6 generate a 4-by-4 binary-weight crossbar MAC unit in SystemVerilog. And then I wrote the testbench, ran the simulation, and all four outputs came out exactly right. So basically I'll go over the design, about the weight encoding, and then the results.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about the crossbar — the idea is that rows carry your inputs and columns carry your outputs, and then at every intersection you have a weight that's either plus-one or minus-one. And so each column just does a dot product every clock cycle. That's the formula at the top.</a:t>
            </a:r>
          </a:p>
          <a:p/>
          <a:p>
            <a:r>
              <a:t>So for example, take column zero. You get plus-ten from row 0, plus-twenty from row 1, and then minus-thirty and minus-forty from rows 2 and 3 because those weights are negative. And so that adds up to minus-40. You can trace the other three columns the same way — like, the arithmetic is right there on the slide.</a:t>
            </a:r>
          </a:p>
          <a:p/>
          <a:p>
            <a:r>
              <a:t>So basically the crossbar does all four dot products at the same time, every single clock cycle. That's the whole point of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about the module — there are three stages. The top one is the weight register, and that's pretty much just a flip-flop that latches the 16-bit weight bus whenever weight_load pulses high. And then below that is the combinational MAC — I mean, that's just wires, it computes all four dot products simultaneously with no clock. And then the output register at the bottom latches the results on the next rising edge.</a:t>
            </a:r>
          </a:p>
          <a:p/>
          <a:p>
            <a:r>
              <a:t>So about the bit width — for example, the worst case is four inputs at plus or minus 127, so 4 times 127 is roughly 508. And then 10-bit signed goes up to 511, so basically that's just enough.</a:t>
            </a:r>
          </a:p>
          <a:p/>
          <a:p>
            <a:r>
              <a:t>And one thing about the implementation — I had to avoid unpacked arrays inside always blocks because iverilog doesn't support variable bit-selects on them. And so I switched everything to individual scalar wires and it compiled clean.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about the encoding — the whole 4-by-4 weight matrix fits into one 16-bit value. And the rule is pretty simple: bit 4i plus j holds weight[i][j]. So for example, bit zero is weight[0][0], bit one is weight[0][1], and then bit four is weight[1][0], and so on.</a:t>
            </a:r>
          </a:p>
          <a:p/>
          <a:p>
            <a:r>
              <a:t>So for the testbench weights — row zero is plus-one, minus-one, plus-one, minus-one. And so that maps to bits zero through three being 1, 0, 1, 0, which is exactly 0101. And then you do the same for each row and concatenate them to get the full 16-bit value — like, it's pretty straightforward once you see the pattern.</a:t>
            </a:r>
          </a:p>
          <a:p/>
          <a:p>
            <a:r>
              <a:t>And the reason I went with a flat register is you load the entire weight matrix in exactly one clock cycle. For example, loading row by row would've cost four cycles and needed an address counter on top of that.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about the timing — the output shows up two cycles after you assert weight_load. And so that's the key thing to get right in the testbench.</a:t>
            </a:r>
          </a:p>
          <a:p/>
          <a:p>
            <a:r>
              <a:t>So basically here's why: on the first rising edge after weight_load goes high, the weight register latches the new weights. But then the output register also clocks on that same edge — and I mean it's still sampling the MAC output from the old weights. And so that first output is wrong.</a:t>
            </a:r>
          </a:p>
          <a:p/>
          <a:p>
            <a:r>
              <a:t>And then one cycle later the MAC is now computing with the new weights, and then the output register latches the correct result. So for example, if you read the output too early — like after just one cycle — you'd get the wrong answer because the MAC was still using the old weight register.</a:t>
            </a:r>
          </a:p>
          <a:p/>
          <a:p>
            <a:r>
              <a:t>The waveform shows it pretty clearly — so the orange pulse is weight_load, there's a one-cycle gap, and then the green output goes valid.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all four outputs match exactly. Out-zero is minus-40, out-one is zero, and then out-two and out-three are both minus-20. And for example, out-zero — like, column zero gets plus-ten, plus-twenty, minus-thirty, minus-forty, and so that adds up to exactly minus-40.</a:t>
            </a:r>
          </a:p>
          <a:p/>
          <a:p>
            <a:r>
              <a:t>So basically the simulation ran clean, the timing worked, and the RTL is correct. 4 out of 4.</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to wrap up — Claude Sonnet 4.6 generated the core module, and then I made the design decisions about the flat weight register, the scalar ports, and the 2-cycle timing. And so the testbench confirmed all four outputs match the hand-calculated values exactly.</a:t>
            </a:r>
          </a:p>
          <a:p/>
          <a:p>
            <a:r>
              <a:t>So basically a 4-by-4 crossbar is pretty small, but the structure is the same as what scales up to in-memory computing. The weights are plus or minus one, the dot products are parallel, and the output is registered — roughly the same idea at any size. Thanks.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229"/>
        </a:solidFill>
        <a:effectLst/>
      </p:bgPr>
    </p:bg>
    <p:spTree>
      <p:nvGrpSpPr>
        <p:cNvPr id="1" name=""/>
        <p:cNvGrpSpPr/>
        <p:nvPr/>
      </p:nvGrpSpPr>
      <p:grpSpPr/>
      <p:sp>
        <p:nvSpPr>
          <p:cNvPr id="2" name="Rectangle 1"/>
          <p:cNvSpPr/>
          <p:nvPr/>
        </p:nvSpPr>
        <p:spPr>
          <a:xfrm>
            <a:off x="0" y="0"/>
            <a:ext cx="12188952" cy="82296"/>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0"/>
            <a:ext cx="12188952" cy="2743200"/>
          </a:xfrm>
          <a:prstGeom prst="rect">
            <a:avLst/>
          </a:prstGeom>
          <a:solidFill>
            <a:srgbClr val="252C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554480"/>
            <a:ext cx="10332720" cy="777240"/>
          </a:xfrm>
          <a:prstGeom prst="rect">
            <a:avLst/>
          </a:prstGeom>
          <a:noFill/>
        </p:spPr>
        <p:txBody>
          <a:bodyPr wrap="square">
            <a:spAutoFit/>
          </a:bodyPr>
          <a:lstStyle/>
          <a:p>
            <a:pPr algn="ctr"/>
            <a:r>
              <a:rPr sz="4600" b="1">
                <a:solidFill>
                  <a:srgbClr val="008B8B"/>
                </a:solidFill>
              </a:rPr>
              <a:t>CF06 CLLM</a:t>
            </a:r>
          </a:p>
        </p:txBody>
      </p:sp>
      <p:sp>
        <p:nvSpPr>
          <p:cNvPr id="5" name="TextBox 4"/>
          <p:cNvSpPr txBox="1"/>
          <p:nvPr/>
        </p:nvSpPr>
        <p:spPr>
          <a:xfrm>
            <a:off x="914400" y="2331720"/>
            <a:ext cx="10332720" cy="685800"/>
          </a:xfrm>
          <a:prstGeom prst="rect">
            <a:avLst/>
          </a:prstGeom>
          <a:noFill/>
        </p:spPr>
        <p:txBody>
          <a:bodyPr wrap="square">
            <a:spAutoFit/>
          </a:bodyPr>
          <a:lstStyle/>
          <a:p>
            <a:pPr algn="ctr"/>
            <a:r>
              <a:rPr sz="2800" b="0">
                <a:solidFill>
                  <a:srgbClr val="FFFFFF"/>
                </a:solidFill>
              </a:rPr>
              <a:t>4×4 Binary-Weight Crossbar MAC Unit in SystemVerilog</a:t>
            </a:r>
          </a:p>
        </p:txBody>
      </p:sp>
      <p:sp>
        <p:nvSpPr>
          <p:cNvPr id="6" name="TextBox 5"/>
          <p:cNvSpPr txBox="1"/>
          <p:nvPr/>
        </p:nvSpPr>
        <p:spPr>
          <a:xfrm>
            <a:off x="914400" y="3154680"/>
            <a:ext cx="10332720" cy="457200"/>
          </a:xfrm>
          <a:prstGeom prst="rect">
            <a:avLst/>
          </a:prstGeom>
          <a:noFill/>
        </p:spPr>
        <p:txBody>
          <a:bodyPr wrap="square">
            <a:spAutoFit/>
          </a:bodyPr>
          <a:lstStyle/>
          <a:p>
            <a:pPr algn="ctr"/>
            <a:r>
              <a:rPr sz="1700" b="0">
                <a:solidFill>
                  <a:srgbClr val="AAAAAA"/>
                </a:solidFill>
              </a:rPr>
              <a:t>ECE 410/510 Spring 2026  ·  Bao Nguyen  ·  LLM: Claude Sonnet 4.6</a:t>
            </a:r>
          </a:p>
        </p:txBody>
      </p:sp>
      <p:pic>
        <p:nvPicPr>
          <p:cNvPr id="7" name="Picture 6" descr="slide_crossbar.png"/>
          <p:cNvPicPr>
            <a:picLocks noChangeAspect="1"/>
          </p:cNvPicPr>
          <p:nvPr/>
        </p:nvPicPr>
        <p:blipFill>
          <a:blip r:embed="rId2"/>
          <a:stretch>
            <a:fillRect/>
          </a:stretch>
        </p:blipFill>
        <p:spPr>
          <a:xfrm>
            <a:off x="3474720" y="3749039"/>
            <a:ext cx="5303520" cy="2834640"/>
          </a:xfrm>
          <a:prstGeom prst="rect">
            <a:avLst/>
          </a:prstGeom>
        </p:spPr>
      </p:pic>
      <p:sp>
        <p:nvSpPr>
          <p:cNvPr id="8" name="TextBox 7"/>
          <p:cNvSpPr txBox="1"/>
          <p:nvPr/>
        </p:nvSpPr>
        <p:spPr>
          <a:xfrm>
            <a:off x="11183112" y="6446520"/>
            <a:ext cx="914400" cy="347472"/>
          </a:xfrm>
          <a:prstGeom prst="rect">
            <a:avLst/>
          </a:prstGeom>
          <a:noFill/>
        </p:spPr>
        <p:txBody>
          <a:bodyPr wrap="square">
            <a:spAutoFit/>
          </a:bodyPr>
          <a:lstStyle/>
          <a:p>
            <a:pPr algn="r"/>
            <a:r>
              <a:rPr sz="1300" b="0">
                <a:solidFill>
                  <a:srgbClr val="999999"/>
                </a:solidFill>
              </a:rPr>
              <a:t>1 / 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2F4F6"/>
        </a:solidFill>
        <a:effectLst/>
      </p:bgPr>
    </p:bg>
    <p:spTree>
      <p:nvGrpSpPr>
        <p:cNvPr id="1" name=""/>
        <p:cNvGrpSpPr/>
        <p:nvPr/>
      </p:nvGrpSpPr>
      <p:grpSpPr/>
      <p:sp>
        <p:nvSpPr>
          <p:cNvPr id="2" name="Rectangle 1"/>
          <p:cNvSpPr/>
          <p:nvPr/>
        </p:nvSpPr>
        <p:spPr>
          <a:xfrm>
            <a:off x="0" y="0"/>
            <a:ext cx="12188952" cy="82296"/>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183112" y="6446520"/>
            <a:ext cx="914400" cy="347472"/>
          </a:xfrm>
          <a:prstGeom prst="rect">
            <a:avLst/>
          </a:prstGeom>
          <a:noFill/>
        </p:spPr>
        <p:txBody>
          <a:bodyPr wrap="square">
            <a:spAutoFit/>
          </a:bodyPr>
          <a:lstStyle/>
          <a:p>
            <a:pPr algn="r"/>
            <a:r>
              <a:rPr sz="1300" b="0">
                <a:solidFill>
                  <a:srgbClr val="999999"/>
                </a:solidFill>
              </a:rPr>
              <a:t>2 / 7</a:t>
            </a:r>
          </a:p>
        </p:txBody>
      </p:sp>
      <p:sp>
        <p:nvSpPr>
          <p:cNvPr id="4" name="TextBox 3"/>
          <p:cNvSpPr txBox="1"/>
          <p:nvPr/>
        </p:nvSpPr>
        <p:spPr>
          <a:xfrm>
            <a:off x="457200" y="137160"/>
            <a:ext cx="8229600" cy="594360"/>
          </a:xfrm>
          <a:prstGeom prst="rect">
            <a:avLst/>
          </a:prstGeom>
          <a:noFill/>
        </p:spPr>
        <p:txBody>
          <a:bodyPr wrap="square">
            <a:spAutoFit/>
          </a:bodyPr>
          <a:lstStyle/>
          <a:p>
            <a:pPr algn="l"/>
            <a:r>
              <a:rPr sz="3000" b="1">
                <a:solidFill>
                  <a:srgbClr val="2C3E50"/>
                </a:solidFill>
              </a:rPr>
              <a:t>What is a Crossbar MAC?</a:t>
            </a:r>
          </a:p>
        </p:txBody>
      </p:sp>
      <p:pic>
        <p:nvPicPr>
          <p:cNvPr id="5" name="Picture 4" descr="slide_crossbar.png"/>
          <p:cNvPicPr>
            <a:picLocks noChangeAspect="1"/>
          </p:cNvPicPr>
          <p:nvPr/>
        </p:nvPicPr>
        <p:blipFill>
          <a:blip r:embed="rId2"/>
          <a:stretch>
            <a:fillRect/>
          </a:stretch>
        </p:blipFill>
        <p:spPr>
          <a:xfrm>
            <a:off x="274320" y="822960"/>
            <a:ext cx="6583680" cy="5669280"/>
          </a:xfrm>
          <a:prstGeom prst="rect">
            <a:avLst/>
          </a:prstGeom>
        </p:spPr>
      </p:pic>
      <p:sp>
        <p:nvSpPr>
          <p:cNvPr id="6" name="Rectangle 5"/>
          <p:cNvSpPr/>
          <p:nvPr/>
        </p:nvSpPr>
        <p:spPr>
          <a:xfrm>
            <a:off x="7040880" y="822960"/>
            <a:ext cx="4937760" cy="5669280"/>
          </a:xfrm>
          <a:prstGeom prst="rect">
            <a:avLst/>
          </a:prstGeom>
          <a:solidFill>
            <a:srgbClr val="FFFFFF"/>
          </a:solidFill>
          <a:ln w="19050">
            <a:solidFill>
              <a:srgbClr val="008B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78040" y="1005840"/>
            <a:ext cx="4663440" cy="384048"/>
          </a:xfrm>
          <a:prstGeom prst="rect">
            <a:avLst/>
          </a:prstGeom>
          <a:noFill/>
        </p:spPr>
        <p:txBody>
          <a:bodyPr wrap="square">
            <a:spAutoFit/>
          </a:bodyPr>
          <a:lstStyle/>
          <a:p>
            <a:pPr algn="l"/>
            <a:r>
              <a:rPr sz="1800" b="0">
                <a:solidFill>
                  <a:srgbClr val="2C3E50"/>
                </a:solidFill>
              </a:rPr>
              <a:t>Rows carry inputs, columns carry outputs</a:t>
            </a:r>
          </a:p>
        </p:txBody>
      </p:sp>
      <p:sp>
        <p:nvSpPr>
          <p:cNvPr id="8" name="TextBox 7"/>
          <p:cNvSpPr txBox="1"/>
          <p:nvPr/>
        </p:nvSpPr>
        <p:spPr>
          <a:xfrm>
            <a:off x="7178040" y="1348740"/>
            <a:ext cx="4663440" cy="384048"/>
          </a:xfrm>
          <a:prstGeom prst="rect">
            <a:avLst/>
          </a:prstGeom>
          <a:noFill/>
        </p:spPr>
        <p:txBody>
          <a:bodyPr wrap="square">
            <a:spAutoFit/>
          </a:bodyPr>
          <a:lstStyle/>
          <a:p>
            <a:pPr algn="l"/>
            <a:r>
              <a:rPr sz="1000" b="0">
                <a:solidFill>
                  <a:srgbClr val="2C3E50"/>
                </a:solidFill>
              </a:rPr>
              <a:t/>
            </a:r>
          </a:p>
        </p:txBody>
      </p:sp>
      <p:sp>
        <p:nvSpPr>
          <p:cNvPr id="9" name="TextBox 8"/>
          <p:cNvSpPr txBox="1"/>
          <p:nvPr/>
        </p:nvSpPr>
        <p:spPr>
          <a:xfrm>
            <a:off x="7178040" y="1539240"/>
            <a:ext cx="4663440" cy="384048"/>
          </a:xfrm>
          <a:prstGeom prst="rect">
            <a:avLst/>
          </a:prstGeom>
          <a:noFill/>
        </p:spPr>
        <p:txBody>
          <a:bodyPr wrap="square">
            <a:spAutoFit/>
          </a:bodyPr>
          <a:lstStyle/>
          <a:p>
            <a:pPr algn="l"/>
            <a:r>
              <a:rPr sz="1800" b="0">
                <a:solidFill>
                  <a:srgbClr val="2C3E50"/>
                </a:solidFill>
              </a:rPr>
              <a:t>Each intersection = a weight (+1 or −1)</a:t>
            </a:r>
          </a:p>
        </p:txBody>
      </p:sp>
      <p:sp>
        <p:nvSpPr>
          <p:cNvPr id="10" name="TextBox 9"/>
          <p:cNvSpPr txBox="1"/>
          <p:nvPr/>
        </p:nvSpPr>
        <p:spPr>
          <a:xfrm>
            <a:off x="7178040" y="1882140"/>
            <a:ext cx="4663440" cy="384048"/>
          </a:xfrm>
          <a:prstGeom prst="rect">
            <a:avLst/>
          </a:prstGeom>
          <a:noFill/>
        </p:spPr>
        <p:txBody>
          <a:bodyPr wrap="square">
            <a:spAutoFit/>
          </a:bodyPr>
          <a:lstStyle/>
          <a:p>
            <a:pPr algn="l"/>
            <a:r>
              <a:rPr sz="1000" b="0">
                <a:solidFill>
                  <a:srgbClr val="2C3E50"/>
                </a:solidFill>
              </a:rPr>
              <a:t/>
            </a:r>
          </a:p>
        </p:txBody>
      </p:sp>
      <p:sp>
        <p:nvSpPr>
          <p:cNvPr id="11" name="TextBox 10"/>
          <p:cNvSpPr txBox="1"/>
          <p:nvPr/>
        </p:nvSpPr>
        <p:spPr>
          <a:xfrm>
            <a:off x="7178040" y="2072640"/>
            <a:ext cx="4663440" cy="384048"/>
          </a:xfrm>
          <a:prstGeom prst="rect">
            <a:avLst/>
          </a:prstGeom>
          <a:noFill/>
        </p:spPr>
        <p:txBody>
          <a:bodyPr wrap="square">
            <a:spAutoFit/>
          </a:bodyPr>
          <a:lstStyle/>
          <a:p>
            <a:pPr algn="l"/>
            <a:r>
              <a:rPr sz="1800" b="1">
                <a:solidFill>
                  <a:srgbClr val="2C3E50"/>
                </a:solidFill>
              </a:rPr>
              <a:t>Formula:</a:t>
            </a:r>
          </a:p>
        </p:txBody>
      </p:sp>
      <p:sp>
        <p:nvSpPr>
          <p:cNvPr id="12" name="TextBox 11"/>
          <p:cNvSpPr txBox="1"/>
          <p:nvPr/>
        </p:nvSpPr>
        <p:spPr>
          <a:xfrm>
            <a:off x="7178040" y="2415540"/>
            <a:ext cx="4663440" cy="384048"/>
          </a:xfrm>
          <a:prstGeom prst="rect">
            <a:avLst/>
          </a:prstGeom>
          <a:noFill/>
        </p:spPr>
        <p:txBody>
          <a:bodyPr wrap="square">
            <a:spAutoFit/>
          </a:bodyPr>
          <a:lstStyle/>
          <a:p>
            <a:pPr algn="l"/>
            <a:r>
              <a:rPr sz="2000" b="1">
                <a:solidFill>
                  <a:srgbClr val="008B8B"/>
                </a:solidFill>
              </a:rPr>
              <a:t>out[j] = Σᵢ weight[i][j] × in[i]</a:t>
            </a:r>
          </a:p>
        </p:txBody>
      </p:sp>
      <p:sp>
        <p:nvSpPr>
          <p:cNvPr id="13" name="TextBox 12"/>
          <p:cNvSpPr txBox="1"/>
          <p:nvPr/>
        </p:nvSpPr>
        <p:spPr>
          <a:xfrm>
            <a:off x="7178040" y="2796540"/>
            <a:ext cx="4663440" cy="384048"/>
          </a:xfrm>
          <a:prstGeom prst="rect">
            <a:avLst/>
          </a:prstGeom>
          <a:noFill/>
        </p:spPr>
        <p:txBody>
          <a:bodyPr wrap="square">
            <a:spAutoFit/>
          </a:bodyPr>
          <a:lstStyle/>
          <a:p>
            <a:pPr algn="l"/>
            <a:r>
              <a:rPr sz="1000" b="0">
                <a:solidFill>
                  <a:srgbClr val="2C3E50"/>
                </a:solidFill>
              </a:rPr>
              <a:t/>
            </a:r>
          </a:p>
        </p:txBody>
      </p:sp>
      <p:sp>
        <p:nvSpPr>
          <p:cNvPr id="14" name="TextBox 13"/>
          <p:cNvSpPr txBox="1"/>
          <p:nvPr/>
        </p:nvSpPr>
        <p:spPr>
          <a:xfrm>
            <a:off x="7178040" y="2987040"/>
            <a:ext cx="4663440" cy="384048"/>
          </a:xfrm>
          <a:prstGeom prst="rect">
            <a:avLst/>
          </a:prstGeom>
          <a:noFill/>
        </p:spPr>
        <p:txBody>
          <a:bodyPr wrap="square">
            <a:spAutoFit/>
          </a:bodyPr>
          <a:lstStyle/>
          <a:p>
            <a:pPr algn="l"/>
            <a:r>
              <a:rPr sz="1700" b="0">
                <a:solidFill>
                  <a:srgbClr val="2C3E50"/>
                </a:solidFill>
              </a:rPr>
              <a:t>Inputs:  [10, 20, 30, 40]</a:t>
            </a:r>
          </a:p>
        </p:txBody>
      </p:sp>
      <p:sp>
        <p:nvSpPr>
          <p:cNvPr id="15" name="TextBox 14"/>
          <p:cNvSpPr txBox="1"/>
          <p:nvPr/>
        </p:nvSpPr>
        <p:spPr>
          <a:xfrm>
            <a:off x="7178040" y="3310889"/>
            <a:ext cx="4663440" cy="384048"/>
          </a:xfrm>
          <a:prstGeom prst="rect">
            <a:avLst/>
          </a:prstGeom>
          <a:noFill/>
        </p:spPr>
        <p:txBody>
          <a:bodyPr wrap="square">
            <a:spAutoFit/>
          </a:bodyPr>
          <a:lstStyle/>
          <a:p>
            <a:pPr algn="l"/>
            <a:r>
              <a:rPr sz="800" b="0">
                <a:solidFill>
                  <a:srgbClr val="2C3E50"/>
                </a:solidFill>
              </a:rPr>
              <a:t/>
            </a:r>
          </a:p>
        </p:txBody>
      </p:sp>
      <p:sp>
        <p:nvSpPr>
          <p:cNvPr id="16" name="TextBox 15"/>
          <p:cNvSpPr txBox="1"/>
          <p:nvPr/>
        </p:nvSpPr>
        <p:spPr>
          <a:xfrm>
            <a:off x="7178040" y="3463289"/>
            <a:ext cx="4663440" cy="384048"/>
          </a:xfrm>
          <a:prstGeom prst="rect">
            <a:avLst/>
          </a:prstGeom>
          <a:noFill/>
        </p:spPr>
        <p:txBody>
          <a:bodyPr wrap="square">
            <a:spAutoFit/>
          </a:bodyPr>
          <a:lstStyle/>
          <a:p>
            <a:pPr algn="l"/>
            <a:r>
              <a:rPr sz="1600" b="0">
                <a:solidFill>
                  <a:srgbClr val="C0392B"/>
                </a:solidFill>
              </a:rPr>
              <a:t>out0: +10+20−30−40 = −40</a:t>
            </a:r>
          </a:p>
        </p:txBody>
      </p:sp>
      <p:sp>
        <p:nvSpPr>
          <p:cNvPr id="17" name="TextBox 16"/>
          <p:cNvSpPr txBox="1"/>
          <p:nvPr/>
        </p:nvSpPr>
        <p:spPr>
          <a:xfrm>
            <a:off x="7178040" y="3768089"/>
            <a:ext cx="4663440" cy="384048"/>
          </a:xfrm>
          <a:prstGeom prst="rect">
            <a:avLst/>
          </a:prstGeom>
          <a:noFill/>
        </p:spPr>
        <p:txBody>
          <a:bodyPr wrap="square">
            <a:spAutoFit/>
          </a:bodyPr>
          <a:lstStyle/>
          <a:p>
            <a:pPr algn="l"/>
            <a:r>
              <a:rPr sz="1600" b="0">
                <a:solidFill>
                  <a:srgbClr val="C0392B"/>
                </a:solidFill>
              </a:rPr>
              <a:t>out1: −10+20+30−40 =   0</a:t>
            </a:r>
          </a:p>
        </p:txBody>
      </p:sp>
      <p:sp>
        <p:nvSpPr>
          <p:cNvPr id="18" name="TextBox 17"/>
          <p:cNvSpPr txBox="1"/>
          <p:nvPr/>
        </p:nvSpPr>
        <p:spPr>
          <a:xfrm>
            <a:off x="7178040" y="4072889"/>
            <a:ext cx="4663440" cy="384048"/>
          </a:xfrm>
          <a:prstGeom prst="rect">
            <a:avLst/>
          </a:prstGeom>
          <a:noFill/>
        </p:spPr>
        <p:txBody>
          <a:bodyPr wrap="square">
            <a:spAutoFit/>
          </a:bodyPr>
          <a:lstStyle/>
          <a:p>
            <a:pPr algn="l"/>
            <a:r>
              <a:rPr sz="1600" b="0">
                <a:solidFill>
                  <a:srgbClr val="C0392B"/>
                </a:solidFill>
              </a:rPr>
              <a:t>out2: +10−20+30−40 = −20</a:t>
            </a:r>
          </a:p>
        </p:txBody>
      </p:sp>
      <p:sp>
        <p:nvSpPr>
          <p:cNvPr id="19" name="TextBox 18"/>
          <p:cNvSpPr txBox="1"/>
          <p:nvPr/>
        </p:nvSpPr>
        <p:spPr>
          <a:xfrm>
            <a:off x="7178040" y="4377689"/>
            <a:ext cx="4663440" cy="384048"/>
          </a:xfrm>
          <a:prstGeom prst="rect">
            <a:avLst/>
          </a:prstGeom>
          <a:noFill/>
        </p:spPr>
        <p:txBody>
          <a:bodyPr wrap="square">
            <a:spAutoFit/>
          </a:bodyPr>
          <a:lstStyle/>
          <a:p>
            <a:pPr algn="l"/>
            <a:r>
              <a:rPr sz="1600" b="0">
                <a:solidFill>
                  <a:srgbClr val="C0392B"/>
                </a:solidFill>
              </a:rPr>
              <a:t>out3: −10−20−30+40 = −20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2F4F6"/>
        </a:solidFill>
        <a:effectLst/>
      </p:bgPr>
    </p:bg>
    <p:spTree>
      <p:nvGrpSpPr>
        <p:cNvPr id="1" name=""/>
        <p:cNvGrpSpPr/>
        <p:nvPr/>
      </p:nvGrpSpPr>
      <p:grpSpPr/>
      <p:sp>
        <p:nvSpPr>
          <p:cNvPr id="2" name="Rectangle 1"/>
          <p:cNvSpPr/>
          <p:nvPr/>
        </p:nvSpPr>
        <p:spPr>
          <a:xfrm>
            <a:off x="0" y="0"/>
            <a:ext cx="12188952" cy="82296"/>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183112" y="6446520"/>
            <a:ext cx="914400" cy="347472"/>
          </a:xfrm>
          <a:prstGeom prst="rect">
            <a:avLst/>
          </a:prstGeom>
          <a:noFill/>
        </p:spPr>
        <p:txBody>
          <a:bodyPr wrap="square">
            <a:spAutoFit/>
          </a:bodyPr>
          <a:lstStyle/>
          <a:p>
            <a:pPr algn="r"/>
            <a:r>
              <a:rPr sz="1300" b="0">
                <a:solidFill>
                  <a:srgbClr val="999999"/>
                </a:solidFill>
              </a:rPr>
              <a:t>3 / 7</a:t>
            </a:r>
          </a:p>
        </p:txBody>
      </p:sp>
      <p:sp>
        <p:nvSpPr>
          <p:cNvPr id="4" name="TextBox 3"/>
          <p:cNvSpPr txBox="1"/>
          <p:nvPr/>
        </p:nvSpPr>
        <p:spPr>
          <a:xfrm>
            <a:off x="457200" y="137160"/>
            <a:ext cx="10972800" cy="594360"/>
          </a:xfrm>
          <a:prstGeom prst="rect">
            <a:avLst/>
          </a:prstGeom>
          <a:noFill/>
        </p:spPr>
        <p:txBody>
          <a:bodyPr wrap="square">
            <a:spAutoFit/>
          </a:bodyPr>
          <a:lstStyle/>
          <a:p>
            <a:pPr algn="l"/>
            <a:r>
              <a:rPr sz="3000" b="1">
                <a:solidFill>
                  <a:srgbClr val="2C3E50"/>
                </a:solidFill>
              </a:rPr>
              <a:t>Module Architecture — crossbar_mac.sv</a:t>
            </a:r>
          </a:p>
        </p:txBody>
      </p:sp>
      <p:pic>
        <p:nvPicPr>
          <p:cNvPr id="5" name="Picture 4" descr="slide_module.png"/>
          <p:cNvPicPr>
            <a:picLocks noChangeAspect="1"/>
          </p:cNvPicPr>
          <p:nvPr/>
        </p:nvPicPr>
        <p:blipFill>
          <a:blip r:embed="rId2"/>
          <a:stretch>
            <a:fillRect/>
          </a:stretch>
        </p:blipFill>
        <p:spPr>
          <a:xfrm>
            <a:off x="274320" y="822960"/>
            <a:ext cx="8046720" cy="5303520"/>
          </a:xfrm>
          <a:prstGeom prst="rect">
            <a:avLst/>
          </a:prstGeom>
        </p:spPr>
      </p:pic>
      <p:sp>
        <p:nvSpPr>
          <p:cNvPr id="6" name="Rectangle 5"/>
          <p:cNvSpPr/>
          <p:nvPr/>
        </p:nvSpPr>
        <p:spPr>
          <a:xfrm>
            <a:off x="8503920" y="822960"/>
            <a:ext cx="3474720" cy="5303520"/>
          </a:xfrm>
          <a:prstGeom prst="rect">
            <a:avLst/>
          </a:prstGeom>
          <a:solidFill>
            <a:srgbClr val="FFFFFF"/>
          </a:solidFill>
          <a:ln w="19050">
            <a:solidFill>
              <a:srgbClr val="008B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41080" y="1005840"/>
            <a:ext cx="3200400" cy="347472"/>
          </a:xfrm>
          <a:prstGeom prst="rect">
            <a:avLst/>
          </a:prstGeom>
          <a:noFill/>
        </p:spPr>
        <p:txBody>
          <a:bodyPr wrap="square">
            <a:spAutoFit/>
          </a:bodyPr>
          <a:lstStyle/>
          <a:p>
            <a:pPr algn="l"/>
            <a:r>
              <a:rPr sz="1900" b="1">
                <a:solidFill>
                  <a:srgbClr val="008B8B"/>
                </a:solidFill>
              </a:rPr>
              <a:t>Ports</a:t>
            </a:r>
          </a:p>
        </p:txBody>
      </p:sp>
      <p:sp>
        <p:nvSpPr>
          <p:cNvPr id="8" name="TextBox 7"/>
          <p:cNvSpPr txBox="1"/>
          <p:nvPr/>
        </p:nvSpPr>
        <p:spPr>
          <a:xfrm>
            <a:off x="8641080" y="1403985"/>
            <a:ext cx="3200400" cy="347472"/>
          </a:xfrm>
          <a:prstGeom prst="rect">
            <a:avLst/>
          </a:prstGeom>
          <a:noFill/>
        </p:spPr>
        <p:txBody>
          <a:bodyPr wrap="square">
            <a:spAutoFit/>
          </a:bodyPr>
          <a:lstStyle/>
          <a:p>
            <a:pPr algn="l"/>
            <a:r>
              <a:rPr sz="1600" b="0">
                <a:solidFill>
                  <a:srgbClr val="2C3E50"/>
                </a:solidFill>
              </a:rPr>
              <a:t>in0–in3   8-bit signed</a:t>
            </a:r>
          </a:p>
        </p:txBody>
      </p:sp>
      <p:sp>
        <p:nvSpPr>
          <p:cNvPr id="9" name="TextBox 8"/>
          <p:cNvSpPr txBox="1"/>
          <p:nvPr/>
        </p:nvSpPr>
        <p:spPr>
          <a:xfrm>
            <a:off x="8641080" y="1739265"/>
            <a:ext cx="3200400" cy="347472"/>
          </a:xfrm>
          <a:prstGeom prst="rect">
            <a:avLst/>
          </a:prstGeom>
          <a:noFill/>
        </p:spPr>
        <p:txBody>
          <a:bodyPr wrap="square">
            <a:spAutoFit/>
          </a:bodyPr>
          <a:lstStyle/>
          <a:p>
            <a:pPr algn="l"/>
            <a:r>
              <a:rPr sz="1600" b="0">
                <a:solidFill>
                  <a:srgbClr val="2C3E50"/>
                </a:solidFill>
              </a:rPr>
              <a:t>out0–out3  10-bit signed</a:t>
            </a:r>
          </a:p>
        </p:txBody>
      </p:sp>
      <p:sp>
        <p:nvSpPr>
          <p:cNvPr id="10" name="TextBox 9"/>
          <p:cNvSpPr txBox="1"/>
          <p:nvPr/>
        </p:nvSpPr>
        <p:spPr>
          <a:xfrm>
            <a:off x="8641080" y="2074545"/>
            <a:ext cx="3200400" cy="347472"/>
          </a:xfrm>
          <a:prstGeom prst="rect">
            <a:avLst/>
          </a:prstGeom>
          <a:noFill/>
        </p:spPr>
        <p:txBody>
          <a:bodyPr wrap="square">
            <a:spAutoFit/>
          </a:bodyPr>
          <a:lstStyle/>
          <a:p>
            <a:pPr algn="l"/>
            <a:r>
              <a:rPr sz="1600" b="0">
                <a:solidFill>
                  <a:srgbClr val="2C3E50"/>
                </a:solidFill>
              </a:rPr>
              <a:t>weight_in  16-bit flat</a:t>
            </a:r>
          </a:p>
        </p:txBody>
      </p:sp>
      <p:sp>
        <p:nvSpPr>
          <p:cNvPr id="11" name="TextBox 10"/>
          <p:cNvSpPr txBox="1"/>
          <p:nvPr/>
        </p:nvSpPr>
        <p:spPr>
          <a:xfrm>
            <a:off x="8641080" y="2409825"/>
            <a:ext cx="3200400" cy="347472"/>
          </a:xfrm>
          <a:prstGeom prst="rect">
            <a:avLst/>
          </a:prstGeom>
          <a:noFill/>
        </p:spPr>
        <p:txBody>
          <a:bodyPr wrap="square">
            <a:spAutoFit/>
          </a:bodyPr>
          <a:lstStyle/>
          <a:p>
            <a:pPr algn="l"/>
            <a:r>
              <a:rPr sz="1600" b="0">
                <a:solidFill>
                  <a:srgbClr val="2C3E50"/>
                </a:solidFill>
              </a:rPr>
              <a:t>weight_load  1-cycle pulse</a:t>
            </a:r>
          </a:p>
        </p:txBody>
      </p:sp>
      <p:sp>
        <p:nvSpPr>
          <p:cNvPr id="12" name="TextBox 11"/>
          <p:cNvSpPr txBox="1"/>
          <p:nvPr/>
        </p:nvSpPr>
        <p:spPr>
          <a:xfrm>
            <a:off x="8641080" y="2745105"/>
            <a:ext cx="3200400" cy="347472"/>
          </a:xfrm>
          <a:prstGeom prst="rect">
            <a:avLst/>
          </a:prstGeom>
          <a:noFill/>
        </p:spPr>
        <p:txBody>
          <a:bodyPr wrap="square">
            <a:spAutoFit/>
          </a:bodyPr>
          <a:lstStyle/>
          <a:p>
            <a:pPr algn="l"/>
            <a:r>
              <a:rPr sz="1000" b="0">
                <a:solidFill>
                  <a:srgbClr val="2C3E50"/>
                </a:solidFill>
              </a:rPr>
              <a:t/>
            </a:r>
          </a:p>
        </p:txBody>
      </p:sp>
      <p:sp>
        <p:nvSpPr>
          <p:cNvPr id="13" name="TextBox 12"/>
          <p:cNvSpPr txBox="1"/>
          <p:nvPr/>
        </p:nvSpPr>
        <p:spPr>
          <a:xfrm>
            <a:off x="8641080" y="2954655"/>
            <a:ext cx="3200400" cy="347472"/>
          </a:xfrm>
          <a:prstGeom prst="rect">
            <a:avLst/>
          </a:prstGeom>
          <a:noFill/>
        </p:spPr>
        <p:txBody>
          <a:bodyPr wrap="square">
            <a:spAutoFit/>
          </a:bodyPr>
          <a:lstStyle/>
          <a:p>
            <a:pPr algn="l"/>
            <a:r>
              <a:rPr sz="1900" b="1">
                <a:solidFill>
                  <a:srgbClr val="008B8B"/>
                </a:solidFill>
              </a:rPr>
              <a:t>Pipeline</a:t>
            </a:r>
          </a:p>
        </p:txBody>
      </p:sp>
      <p:sp>
        <p:nvSpPr>
          <p:cNvPr id="14" name="TextBox 13"/>
          <p:cNvSpPr txBox="1"/>
          <p:nvPr/>
        </p:nvSpPr>
        <p:spPr>
          <a:xfrm>
            <a:off x="8641080" y="3352800"/>
            <a:ext cx="3200400" cy="347472"/>
          </a:xfrm>
          <a:prstGeom prst="rect">
            <a:avLst/>
          </a:prstGeom>
          <a:noFill/>
        </p:spPr>
        <p:txBody>
          <a:bodyPr wrap="square">
            <a:spAutoFit/>
          </a:bodyPr>
          <a:lstStyle/>
          <a:p>
            <a:pPr algn="l"/>
            <a:r>
              <a:rPr sz="1600" b="0">
                <a:solidFill>
                  <a:srgbClr val="8E44AD"/>
                </a:solidFill>
              </a:rPr>
              <a:t>① Weight register (FF)</a:t>
            </a:r>
          </a:p>
        </p:txBody>
      </p:sp>
      <p:sp>
        <p:nvSpPr>
          <p:cNvPr id="15" name="TextBox 14"/>
          <p:cNvSpPr txBox="1"/>
          <p:nvPr/>
        </p:nvSpPr>
        <p:spPr>
          <a:xfrm>
            <a:off x="8641080" y="3688080"/>
            <a:ext cx="3200400" cy="347472"/>
          </a:xfrm>
          <a:prstGeom prst="rect">
            <a:avLst/>
          </a:prstGeom>
          <a:noFill/>
        </p:spPr>
        <p:txBody>
          <a:bodyPr wrap="square">
            <a:spAutoFit/>
          </a:bodyPr>
          <a:lstStyle/>
          <a:p>
            <a:pPr algn="l"/>
            <a:r>
              <a:rPr sz="1600" b="0">
                <a:solidFill>
                  <a:srgbClr val="E67E22"/>
                </a:solidFill>
              </a:rPr>
              <a:t>② Comb. MAC (wires)</a:t>
            </a:r>
          </a:p>
        </p:txBody>
      </p:sp>
      <p:sp>
        <p:nvSpPr>
          <p:cNvPr id="16" name="TextBox 15"/>
          <p:cNvSpPr txBox="1"/>
          <p:nvPr/>
        </p:nvSpPr>
        <p:spPr>
          <a:xfrm>
            <a:off x="8641080" y="4023360"/>
            <a:ext cx="3200400" cy="347472"/>
          </a:xfrm>
          <a:prstGeom prst="rect">
            <a:avLst/>
          </a:prstGeom>
          <a:noFill/>
        </p:spPr>
        <p:txBody>
          <a:bodyPr wrap="square">
            <a:spAutoFit/>
          </a:bodyPr>
          <a:lstStyle/>
          <a:p>
            <a:pPr algn="l"/>
            <a:r>
              <a:rPr sz="1600" b="0">
                <a:solidFill>
                  <a:srgbClr val="27AE60"/>
                </a:solidFill>
              </a:rPr>
              <a:t>③ Output register (FF)</a:t>
            </a:r>
          </a:p>
        </p:txBody>
      </p:sp>
      <p:sp>
        <p:nvSpPr>
          <p:cNvPr id="17" name="TextBox 16"/>
          <p:cNvSpPr txBox="1"/>
          <p:nvPr/>
        </p:nvSpPr>
        <p:spPr>
          <a:xfrm>
            <a:off x="8641080" y="4358640"/>
            <a:ext cx="3200400" cy="347472"/>
          </a:xfrm>
          <a:prstGeom prst="rect">
            <a:avLst/>
          </a:prstGeom>
          <a:noFill/>
        </p:spPr>
        <p:txBody>
          <a:bodyPr wrap="square">
            <a:spAutoFit/>
          </a:bodyPr>
          <a:lstStyle/>
          <a:p>
            <a:pPr algn="l"/>
            <a:r>
              <a:rPr sz="1000" b="0">
                <a:solidFill>
                  <a:srgbClr val="2C3E50"/>
                </a:solidFill>
              </a:rPr>
              <a:t/>
            </a:r>
          </a:p>
        </p:txBody>
      </p:sp>
      <p:sp>
        <p:nvSpPr>
          <p:cNvPr id="18" name="TextBox 17"/>
          <p:cNvSpPr txBox="1"/>
          <p:nvPr/>
        </p:nvSpPr>
        <p:spPr>
          <a:xfrm>
            <a:off x="8641080" y="4568190"/>
            <a:ext cx="3200400" cy="347472"/>
          </a:xfrm>
          <a:prstGeom prst="rect">
            <a:avLst/>
          </a:prstGeom>
          <a:noFill/>
        </p:spPr>
        <p:txBody>
          <a:bodyPr wrap="square">
            <a:spAutoFit/>
          </a:bodyPr>
          <a:lstStyle/>
          <a:p>
            <a:pPr algn="l"/>
            <a:r>
              <a:rPr sz="1500" b="0">
                <a:solidFill>
                  <a:srgbClr val="2C3E50"/>
                </a:solidFill>
              </a:rPr>
              <a:t>Bit width: 4 × 127 = 508</a:t>
            </a:r>
          </a:p>
        </p:txBody>
      </p:sp>
      <p:sp>
        <p:nvSpPr>
          <p:cNvPr id="19" name="TextBox 18"/>
          <p:cNvSpPr txBox="1"/>
          <p:nvPr/>
        </p:nvSpPr>
        <p:spPr>
          <a:xfrm>
            <a:off x="8641080" y="4882515"/>
            <a:ext cx="3200400" cy="347472"/>
          </a:xfrm>
          <a:prstGeom prst="rect">
            <a:avLst/>
          </a:prstGeom>
          <a:noFill/>
        </p:spPr>
        <p:txBody>
          <a:bodyPr wrap="square">
            <a:spAutoFit/>
          </a:bodyPr>
          <a:lstStyle/>
          <a:p>
            <a:pPr algn="l"/>
            <a:r>
              <a:rPr sz="1500" b="0">
                <a:solidFill>
                  <a:srgbClr val="2C3E50"/>
                </a:solidFill>
              </a:rPr>
              <a:t>→ 10-bit signed is safe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2F4F6"/>
        </a:solidFill>
        <a:effectLst/>
      </p:bgPr>
    </p:bg>
    <p:spTree>
      <p:nvGrpSpPr>
        <p:cNvPr id="1" name=""/>
        <p:cNvGrpSpPr/>
        <p:nvPr/>
      </p:nvGrpSpPr>
      <p:grpSpPr/>
      <p:sp>
        <p:nvSpPr>
          <p:cNvPr id="2" name="Rectangle 1"/>
          <p:cNvSpPr/>
          <p:nvPr/>
        </p:nvSpPr>
        <p:spPr>
          <a:xfrm>
            <a:off x="0" y="0"/>
            <a:ext cx="12188952" cy="82296"/>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183112" y="6446520"/>
            <a:ext cx="914400" cy="347472"/>
          </a:xfrm>
          <a:prstGeom prst="rect">
            <a:avLst/>
          </a:prstGeom>
          <a:noFill/>
        </p:spPr>
        <p:txBody>
          <a:bodyPr wrap="square">
            <a:spAutoFit/>
          </a:bodyPr>
          <a:lstStyle/>
          <a:p>
            <a:pPr algn="r"/>
            <a:r>
              <a:rPr sz="1300" b="0">
                <a:solidFill>
                  <a:srgbClr val="999999"/>
                </a:solidFill>
              </a:rPr>
              <a:t>4 / 7</a:t>
            </a:r>
          </a:p>
        </p:txBody>
      </p:sp>
      <p:sp>
        <p:nvSpPr>
          <p:cNvPr id="4" name="TextBox 3"/>
          <p:cNvSpPr txBox="1"/>
          <p:nvPr/>
        </p:nvSpPr>
        <p:spPr>
          <a:xfrm>
            <a:off x="457200" y="137160"/>
            <a:ext cx="10972800" cy="594360"/>
          </a:xfrm>
          <a:prstGeom prst="rect">
            <a:avLst/>
          </a:prstGeom>
          <a:noFill/>
        </p:spPr>
        <p:txBody>
          <a:bodyPr wrap="square">
            <a:spAutoFit/>
          </a:bodyPr>
          <a:lstStyle/>
          <a:p>
            <a:pPr algn="l"/>
            <a:r>
              <a:rPr sz="3000" b="1">
                <a:solidFill>
                  <a:srgbClr val="2C3E50"/>
                </a:solidFill>
              </a:rPr>
              <a:t>Weight Encoding — 16-bit Flat Register</a:t>
            </a:r>
          </a:p>
        </p:txBody>
      </p:sp>
      <p:pic>
        <p:nvPicPr>
          <p:cNvPr id="5" name="Picture 4" descr="slide_encoding.png"/>
          <p:cNvPicPr>
            <a:picLocks noChangeAspect="1"/>
          </p:cNvPicPr>
          <p:nvPr/>
        </p:nvPicPr>
        <p:blipFill>
          <a:blip r:embed="rId2"/>
          <a:stretch>
            <a:fillRect/>
          </a:stretch>
        </p:blipFill>
        <p:spPr>
          <a:xfrm>
            <a:off x="457200" y="868680"/>
            <a:ext cx="11247120" cy="2834640"/>
          </a:xfrm>
          <a:prstGeom prst="rect">
            <a:avLst/>
          </a:prstGeom>
        </p:spPr>
      </p:pic>
      <p:sp>
        <p:nvSpPr>
          <p:cNvPr id="6" name="Rectangle 5"/>
          <p:cNvSpPr/>
          <p:nvPr/>
        </p:nvSpPr>
        <p:spPr>
          <a:xfrm>
            <a:off x="457200" y="3794760"/>
            <a:ext cx="11247120" cy="685800"/>
          </a:xfrm>
          <a:prstGeom prst="rect">
            <a:avLst/>
          </a:prstGeom>
          <a:solidFill>
            <a:srgbClr val="FFFFFF"/>
          </a:solidFill>
          <a:ln w="19050">
            <a:solidFill>
              <a:srgbClr val="008B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3840480"/>
            <a:ext cx="10881360" cy="594360"/>
          </a:xfrm>
          <a:prstGeom prst="rect">
            <a:avLst/>
          </a:prstGeom>
          <a:noFill/>
        </p:spPr>
        <p:txBody>
          <a:bodyPr wrap="square">
            <a:spAutoFit/>
          </a:bodyPr>
          <a:lstStyle/>
          <a:p>
            <a:pPr algn="ctr"/>
            <a:r>
              <a:rPr sz="2100" b="1">
                <a:solidFill>
                  <a:srgbClr val="008B8B"/>
                </a:solidFill>
              </a:rPr>
              <a:t>bit (4×i + j)  encodes  weight[i][j]        1 → +1      0 → −1</a:t>
            </a:r>
          </a:p>
        </p:txBody>
      </p:sp>
      <p:sp>
        <p:nvSpPr>
          <p:cNvPr id="8" name="Rectangle 7"/>
          <p:cNvSpPr/>
          <p:nvPr/>
        </p:nvSpPr>
        <p:spPr>
          <a:xfrm>
            <a:off x="457200" y="4617720"/>
            <a:ext cx="11247120" cy="1965960"/>
          </a:xfrm>
          <a:prstGeom prst="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4663440"/>
            <a:ext cx="3657600" cy="365760"/>
          </a:xfrm>
          <a:prstGeom prst="rect">
            <a:avLst/>
          </a:prstGeom>
          <a:noFill/>
        </p:spPr>
        <p:txBody>
          <a:bodyPr wrap="square">
            <a:spAutoFit/>
          </a:bodyPr>
          <a:lstStyle/>
          <a:p>
            <a:pPr algn="l"/>
            <a:r>
              <a:rPr sz="1700" b="1">
                <a:solidFill>
                  <a:srgbClr val="2C3E50"/>
                </a:solidFill>
              </a:rPr>
              <a:t>Testbench weight matrix:</a:t>
            </a:r>
          </a:p>
        </p:txBody>
      </p:sp>
      <p:sp>
        <p:nvSpPr>
          <p:cNvPr id="10" name="TextBox 9"/>
          <p:cNvSpPr txBox="1"/>
          <p:nvPr/>
        </p:nvSpPr>
        <p:spPr>
          <a:xfrm>
            <a:off x="640080" y="5074920"/>
            <a:ext cx="10881360" cy="329184"/>
          </a:xfrm>
          <a:prstGeom prst="rect">
            <a:avLst/>
          </a:prstGeom>
          <a:noFill/>
        </p:spPr>
        <p:txBody>
          <a:bodyPr wrap="square">
            <a:spAutoFit/>
          </a:bodyPr>
          <a:lstStyle/>
          <a:p>
            <a:pPr algn="l"/>
            <a:r>
              <a:rPr sz="1600" b="0">
                <a:solidFill>
                  <a:srgbClr val="8E44AD"/>
                </a:solidFill>
              </a:rPr>
              <a:t>row 0  [+1, −1, +1, −1]   →   weight_in bits [3:0]  = 4'b0101</a:t>
            </a:r>
          </a:p>
        </p:txBody>
      </p:sp>
      <p:sp>
        <p:nvSpPr>
          <p:cNvPr id="11" name="TextBox 10"/>
          <p:cNvSpPr txBox="1"/>
          <p:nvPr/>
        </p:nvSpPr>
        <p:spPr>
          <a:xfrm>
            <a:off x="640080" y="5422392"/>
            <a:ext cx="10881360" cy="329184"/>
          </a:xfrm>
          <a:prstGeom prst="rect">
            <a:avLst/>
          </a:prstGeom>
          <a:noFill/>
        </p:spPr>
        <p:txBody>
          <a:bodyPr wrap="square">
            <a:spAutoFit/>
          </a:bodyPr>
          <a:lstStyle/>
          <a:p>
            <a:pPr algn="l"/>
            <a:r>
              <a:rPr sz="1600" b="0">
                <a:solidFill>
                  <a:srgbClr val="3498DB"/>
                </a:solidFill>
              </a:rPr>
              <a:t>row 1  [+1, +1, −1, −1]   →   weight_in bits [7:4]  = 4'b0011</a:t>
            </a:r>
          </a:p>
        </p:txBody>
      </p:sp>
      <p:sp>
        <p:nvSpPr>
          <p:cNvPr id="12" name="TextBox 11"/>
          <p:cNvSpPr txBox="1"/>
          <p:nvPr/>
        </p:nvSpPr>
        <p:spPr>
          <a:xfrm>
            <a:off x="640080" y="5769864"/>
            <a:ext cx="10881360" cy="329184"/>
          </a:xfrm>
          <a:prstGeom prst="rect">
            <a:avLst/>
          </a:prstGeom>
          <a:noFill/>
        </p:spPr>
        <p:txBody>
          <a:bodyPr wrap="square">
            <a:spAutoFit/>
          </a:bodyPr>
          <a:lstStyle/>
          <a:p>
            <a:pPr algn="l"/>
            <a:r>
              <a:rPr sz="1600" b="0">
                <a:solidFill>
                  <a:srgbClr val="E67E22"/>
                </a:solidFill>
              </a:rPr>
              <a:t>row 2  [−1, +1, +1, −1]   →   weight_in bits [11:8] = 4'b0110</a:t>
            </a:r>
          </a:p>
        </p:txBody>
      </p:sp>
      <p:sp>
        <p:nvSpPr>
          <p:cNvPr id="13" name="TextBox 12"/>
          <p:cNvSpPr txBox="1"/>
          <p:nvPr/>
        </p:nvSpPr>
        <p:spPr>
          <a:xfrm>
            <a:off x="640080" y="6117336"/>
            <a:ext cx="10881360" cy="329184"/>
          </a:xfrm>
          <a:prstGeom prst="rect">
            <a:avLst/>
          </a:prstGeom>
          <a:noFill/>
        </p:spPr>
        <p:txBody>
          <a:bodyPr wrap="square">
            <a:spAutoFit/>
          </a:bodyPr>
          <a:lstStyle/>
          <a:p>
            <a:pPr algn="l"/>
            <a:r>
              <a:rPr sz="1600" b="0">
                <a:solidFill>
                  <a:srgbClr val="27AE60"/>
                </a:solidFill>
              </a:rPr>
              <a:t>row 3  [−1, −1, −1, +1]   →   weight_in bits [15:12]= 4'b1000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2F4F6"/>
        </a:solidFill>
        <a:effectLst/>
      </p:bgPr>
    </p:bg>
    <p:spTree>
      <p:nvGrpSpPr>
        <p:cNvPr id="1" name=""/>
        <p:cNvGrpSpPr/>
        <p:nvPr/>
      </p:nvGrpSpPr>
      <p:grpSpPr/>
      <p:sp>
        <p:nvSpPr>
          <p:cNvPr id="2" name="Rectangle 1"/>
          <p:cNvSpPr/>
          <p:nvPr/>
        </p:nvSpPr>
        <p:spPr>
          <a:xfrm>
            <a:off x="0" y="0"/>
            <a:ext cx="12188952" cy="82296"/>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183112" y="6446520"/>
            <a:ext cx="914400" cy="347472"/>
          </a:xfrm>
          <a:prstGeom prst="rect">
            <a:avLst/>
          </a:prstGeom>
          <a:noFill/>
        </p:spPr>
        <p:txBody>
          <a:bodyPr wrap="square">
            <a:spAutoFit/>
          </a:bodyPr>
          <a:lstStyle/>
          <a:p>
            <a:pPr algn="r"/>
            <a:r>
              <a:rPr sz="1300" b="0">
                <a:solidFill>
                  <a:srgbClr val="999999"/>
                </a:solidFill>
              </a:rPr>
              <a:t>5 / 7</a:t>
            </a:r>
          </a:p>
        </p:txBody>
      </p:sp>
      <p:sp>
        <p:nvSpPr>
          <p:cNvPr id="4" name="TextBox 3"/>
          <p:cNvSpPr txBox="1"/>
          <p:nvPr/>
        </p:nvSpPr>
        <p:spPr>
          <a:xfrm>
            <a:off x="457200" y="137160"/>
            <a:ext cx="10972800" cy="594360"/>
          </a:xfrm>
          <a:prstGeom prst="rect">
            <a:avLst/>
          </a:prstGeom>
          <a:noFill/>
        </p:spPr>
        <p:txBody>
          <a:bodyPr wrap="square">
            <a:spAutoFit/>
          </a:bodyPr>
          <a:lstStyle/>
          <a:p>
            <a:pPr algn="l"/>
            <a:r>
              <a:rPr sz="3000" b="1">
                <a:solidFill>
                  <a:srgbClr val="2C3E50"/>
                </a:solidFill>
              </a:rPr>
              <a:t>Testbench Strategy — 2-Cycle Pipeline</a:t>
            </a:r>
          </a:p>
        </p:txBody>
      </p:sp>
      <p:pic>
        <p:nvPicPr>
          <p:cNvPr id="5" name="Picture 4" descr="slide_timing.png"/>
          <p:cNvPicPr>
            <a:picLocks noChangeAspect="1"/>
          </p:cNvPicPr>
          <p:nvPr/>
        </p:nvPicPr>
        <p:blipFill>
          <a:blip r:embed="rId2"/>
          <a:stretch>
            <a:fillRect/>
          </a:stretch>
        </p:blipFill>
        <p:spPr>
          <a:xfrm>
            <a:off x="365760" y="822960"/>
            <a:ext cx="8229600" cy="4114800"/>
          </a:xfrm>
          <a:prstGeom prst="rect">
            <a:avLst/>
          </a:prstGeom>
        </p:spPr>
      </p:pic>
      <p:sp>
        <p:nvSpPr>
          <p:cNvPr id="6" name="Rectangle 5"/>
          <p:cNvSpPr/>
          <p:nvPr/>
        </p:nvSpPr>
        <p:spPr>
          <a:xfrm>
            <a:off x="8732520" y="822960"/>
            <a:ext cx="3246120" cy="5486400"/>
          </a:xfrm>
          <a:prstGeom prst="rect">
            <a:avLst/>
          </a:prstGeom>
          <a:solidFill>
            <a:srgbClr val="FFFFFF"/>
          </a:solidFill>
          <a:ln w="19050">
            <a:solidFill>
              <a:srgbClr val="008B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0" y="960120"/>
            <a:ext cx="2926080" cy="329184"/>
          </a:xfrm>
          <a:prstGeom prst="rect">
            <a:avLst/>
          </a:prstGeom>
          <a:noFill/>
        </p:spPr>
        <p:txBody>
          <a:bodyPr wrap="square">
            <a:spAutoFit/>
          </a:bodyPr>
          <a:lstStyle/>
          <a:p>
            <a:pPr algn="l"/>
            <a:r>
              <a:rPr sz="1500" b="0">
                <a:solidFill>
                  <a:srgbClr val="8E44AD"/>
                </a:solidFill>
              </a:rPr>
              <a:t>① Assert reset</a:t>
            </a:r>
          </a:p>
        </p:txBody>
      </p:sp>
      <p:sp>
        <p:nvSpPr>
          <p:cNvPr id="8" name="TextBox 7"/>
          <p:cNvSpPr txBox="1"/>
          <p:nvPr/>
        </p:nvSpPr>
        <p:spPr>
          <a:xfrm>
            <a:off x="8869680" y="1261872"/>
            <a:ext cx="2926080" cy="329184"/>
          </a:xfrm>
          <a:prstGeom prst="rect">
            <a:avLst/>
          </a:prstGeom>
          <a:noFill/>
        </p:spPr>
        <p:txBody>
          <a:bodyPr wrap="square">
            <a:spAutoFit/>
          </a:bodyPr>
          <a:lstStyle/>
          <a:p>
            <a:pPr algn="l"/>
            <a:r>
              <a:rPr sz="1500" b="0">
                <a:solidFill>
                  <a:srgbClr val="2C3E50"/>
                </a:solidFill>
              </a:rPr>
              <a:t>   Clear all registers</a:t>
            </a:r>
          </a:p>
        </p:txBody>
      </p:sp>
      <p:sp>
        <p:nvSpPr>
          <p:cNvPr id="9" name="TextBox 8"/>
          <p:cNvSpPr txBox="1"/>
          <p:nvPr/>
        </p:nvSpPr>
        <p:spPr>
          <a:xfrm>
            <a:off x="8869680" y="1563624"/>
            <a:ext cx="2926080" cy="329184"/>
          </a:xfrm>
          <a:prstGeom prst="rect">
            <a:avLst/>
          </a:prstGeom>
          <a:noFill/>
        </p:spPr>
        <p:txBody>
          <a:bodyPr wrap="square">
            <a:spAutoFit/>
          </a:bodyPr>
          <a:lstStyle/>
          <a:p>
            <a:pPr algn="l"/>
            <a:r>
              <a:rPr sz="1500" b="0">
                <a:solidFill>
                  <a:srgbClr val="2C3E50"/>
                </a:solidFill>
              </a:rPr>
              <a:t/>
            </a:r>
          </a:p>
        </p:txBody>
      </p:sp>
      <p:sp>
        <p:nvSpPr>
          <p:cNvPr id="10" name="TextBox 9"/>
          <p:cNvSpPr txBox="1"/>
          <p:nvPr/>
        </p:nvSpPr>
        <p:spPr>
          <a:xfrm>
            <a:off x="8869680" y="1865376"/>
            <a:ext cx="2926080" cy="329184"/>
          </a:xfrm>
          <a:prstGeom prst="rect">
            <a:avLst/>
          </a:prstGeom>
          <a:noFill/>
        </p:spPr>
        <p:txBody>
          <a:bodyPr wrap="square">
            <a:spAutoFit/>
          </a:bodyPr>
          <a:lstStyle/>
          <a:p>
            <a:pPr algn="l"/>
            <a:r>
              <a:rPr sz="1500" b="0">
                <a:solidFill>
                  <a:srgbClr val="E67E22"/>
                </a:solidFill>
              </a:rPr>
              <a:t>② weight_load pulse</a:t>
            </a:r>
          </a:p>
        </p:txBody>
      </p:sp>
      <p:sp>
        <p:nvSpPr>
          <p:cNvPr id="11" name="TextBox 10"/>
          <p:cNvSpPr txBox="1"/>
          <p:nvPr/>
        </p:nvSpPr>
        <p:spPr>
          <a:xfrm>
            <a:off x="8869680" y="2167128"/>
            <a:ext cx="2926080" cy="329184"/>
          </a:xfrm>
          <a:prstGeom prst="rect">
            <a:avLst/>
          </a:prstGeom>
          <a:noFill/>
        </p:spPr>
        <p:txBody>
          <a:bodyPr wrap="square">
            <a:spAutoFit/>
          </a:bodyPr>
          <a:lstStyle/>
          <a:p>
            <a:pPr algn="l"/>
            <a:r>
              <a:rPr sz="1500" b="0">
                <a:solidFill>
                  <a:srgbClr val="2C3E50"/>
                </a:solidFill>
              </a:rPr>
              <a:t>   16-bit weight_in latched</a:t>
            </a:r>
          </a:p>
        </p:txBody>
      </p:sp>
      <p:sp>
        <p:nvSpPr>
          <p:cNvPr id="12" name="TextBox 11"/>
          <p:cNvSpPr txBox="1"/>
          <p:nvPr/>
        </p:nvSpPr>
        <p:spPr>
          <a:xfrm>
            <a:off x="8869680" y="2468880"/>
            <a:ext cx="2926080" cy="329184"/>
          </a:xfrm>
          <a:prstGeom prst="rect">
            <a:avLst/>
          </a:prstGeom>
          <a:noFill/>
        </p:spPr>
        <p:txBody>
          <a:bodyPr wrap="square">
            <a:spAutoFit/>
          </a:bodyPr>
          <a:lstStyle/>
          <a:p>
            <a:pPr algn="l"/>
            <a:r>
              <a:rPr sz="1500" b="0">
                <a:solidFill>
                  <a:srgbClr val="2C3E50"/>
                </a:solidFill>
              </a:rPr>
              <a:t>   into wreg on posedge</a:t>
            </a:r>
          </a:p>
        </p:txBody>
      </p:sp>
      <p:sp>
        <p:nvSpPr>
          <p:cNvPr id="13" name="TextBox 12"/>
          <p:cNvSpPr txBox="1"/>
          <p:nvPr/>
        </p:nvSpPr>
        <p:spPr>
          <a:xfrm>
            <a:off x="8869680" y="2770632"/>
            <a:ext cx="2926080" cy="329184"/>
          </a:xfrm>
          <a:prstGeom prst="rect">
            <a:avLst/>
          </a:prstGeom>
          <a:noFill/>
        </p:spPr>
        <p:txBody>
          <a:bodyPr wrap="square">
            <a:spAutoFit/>
          </a:bodyPr>
          <a:lstStyle/>
          <a:p>
            <a:pPr algn="l"/>
            <a:r>
              <a:rPr sz="1500" b="0">
                <a:solidFill>
                  <a:srgbClr val="2C3E50"/>
                </a:solidFill>
              </a:rPr>
              <a:t/>
            </a:r>
          </a:p>
        </p:txBody>
      </p:sp>
      <p:sp>
        <p:nvSpPr>
          <p:cNvPr id="14" name="TextBox 13"/>
          <p:cNvSpPr txBox="1"/>
          <p:nvPr/>
        </p:nvSpPr>
        <p:spPr>
          <a:xfrm>
            <a:off x="8869680" y="3072384"/>
            <a:ext cx="2926080" cy="329184"/>
          </a:xfrm>
          <a:prstGeom prst="rect">
            <a:avLst/>
          </a:prstGeom>
          <a:noFill/>
        </p:spPr>
        <p:txBody>
          <a:bodyPr wrap="square">
            <a:spAutoFit/>
          </a:bodyPr>
          <a:lstStyle/>
          <a:p>
            <a:pPr algn="l"/>
            <a:r>
              <a:rPr sz="1500" b="0">
                <a:solidFill>
                  <a:srgbClr val="3498DB"/>
                </a:solidFill>
              </a:rPr>
              <a:t>③ Weight stable</a:t>
            </a:r>
          </a:p>
        </p:txBody>
      </p:sp>
      <p:sp>
        <p:nvSpPr>
          <p:cNvPr id="15" name="TextBox 14"/>
          <p:cNvSpPr txBox="1"/>
          <p:nvPr/>
        </p:nvSpPr>
        <p:spPr>
          <a:xfrm>
            <a:off x="8869680" y="3374136"/>
            <a:ext cx="2926080" cy="329184"/>
          </a:xfrm>
          <a:prstGeom prst="rect">
            <a:avLst/>
          </a:prstGeom>
          <a:noFill/>
        </p:spPr>
        <p:txBody>
          <a:bodyPr wrap="square">
            <a:spAutoFit/>
          </a:bodyPr>
          <a:lstStyle/>
          <a:p>
            <a:pPr algn="l"/>
            <a:r>
              <a:rPr sz="1500" b="0">
                <a:solidFill>
                  <a:srgbClr val="2C3E50"/>
                </a:solidFill>
              </a:rPr>
              <a:t>   MAC computes sum0–sum3</a:t>
            </a:r>
          </a:p>
        </p:txBody>
      </p:sp>
      <p:sp>
        <p:nvSpPr>
          <p:cNvPr id="16" name="TextBox 15"/>
          <p:cNvSpPr txBox="1"/>
          <p:nvPr/>
        </p:nvSpPr>
        <p:spPr>
          <a:xfrm>
            <a:off x="8869680" y="3675888"/>
            <a:ext cx="2926080" cy="329184"/>
          </a:xfrm>
          <a:prstGeom prst="rect">
            <a:avLst/>
          </a:prstGeom>
          <a:noFill/>
        </p:spPr>
        <p:txBody>
          <a:bodyPr wrap="square">
            <a:spAutoFit/>
          </a:bodyPr>
          <a:lstStyle/>
          <a:p>
            <a:pPr algn="l"/>
            <a:r>
              <a:rPr sz="1500" b="0">
                <a:solidFill>
                  <a:srgbClr val="2C3E50"/>
                </a:solidFill>
              </a:rPr>
              <a:t/>
            </a:r>
          </a:p>
        </p:txBody>
      </p:sp>
      <p:sp>
        <p:nvSpPr>
          <p:cNvPr id="17" name="TextBox 16"/>
          <p:cNvSpPr txBox="1"/>
          <p:nvPr/>
        </p:nvSpPr>
        <p:spPr>
          <a:xfrm>
            <a:off x="8869680" y="3977640"/>
            <a:ext cx="2926080" cy="329184"/>
          </a:xfrm>
          <a:prstGeom prst="rect">
            <a:avLst/>
          </a:prstGeom>
          <a:noFill/>
        </p:spPr>
        <p:txBody>
          <a:bodyPr wrap="square">
            <a:spAutoFit/>
          </a:bodyPr>
          <a:lstStyle/>
          <a:p>
            <a:pPr algn="l"/>
            <a:r>
              <a:rPr sz="1500" b="0">
                <a:solidFill>
                  <a:srgbClr val="27AE60"/>
                </a:solidFill>
              </a:rPr>
              <a:t>④ Output registered</a:t>
            </a:r>
          </a:p>
        </p:txBody>
      </p:sp>
      <p:sp>
        <p:nvSpPr>
          <p:cNvPr id="18" name="TextBox 17"/>
          <p:cNvSpPr txBox="1"/>
          <p:nvPr/>
        </p:nvSpPr>
        <p:spPr>
          <a:xfrm>
            <a:off x="8869680" y="4279392"/>
            <a:ext cx="2926080" cy="329184"/>
          </a:xfrm>
          <a:prstGeom prst="rect">
            <a:avLst/>
          </a:prstGeom>
          <a:noFill/>
        </p:spPr>
        <p:txBody>
          <a:bodyPr wrap="square">
            <a:spAutoFit/>
          </a:bodyPr>
          <a:lstStyle/>
          <a:p>
            <a:pPr algn="l"/>
            <a:r>
              <a:rPr sz="1500" b="0">
                <a:solidFill>
                  <a:srgbClr val="2C3E50"/>
                </a:solidFill>
              </a:rPr>
              <a:t>   out0–out3 valid</a:t>
            </a:r>
          </a:p>
        </p:txBody>
      </p:sp>
      <p:sp>
        <p:nvSpPr>
          <p:cNvPr id="19" name="TextBox 18"/>
          <p:cNvSpPr txBox="1"/>
          <p:nvPr/>
        </p:nvSpPr>
        <p:spPr>
          <a:xfrm>
            <a:off x="8869680" y="4581144"/>
            <a:ext cx="2926080" cy="329184"/>
          </a:xfrm>
          <a:prstGeom prst="rect">
            <a:avLst/>
          </a:prstGeom>
          <a:noFill/>
        </p:spPr>
        <p:txBody>
          <a:bodyPr wrap="square">
            <a:spAutoFit/>
          </a:bodyPr>
          <a:lstStyle/>
          <a:p>
            <a:pPr algn="l"/>
            <a:r>
              <a:rPr sz="1500" b="0">
                <a:solidFill>
                  <a:srgbClr val="2C3E50"/>
                </a:solidFill>
              </a:rPr>
              <a:t>   2 cycles after load</a:t>
            </a:r>
          </a:p>
        </p:txBody>
      </p:sp>
      <p:sp>
        <p:nvSpPr>
          <p:cNvPr id="20" name="Rectangle 19"/>
          <p:cNvSpPr/>
          <p:nvPr/>
        </p:nvSpPr>
        <p:spPr>
          <a:xfrm>
            <a:off x="365760" y="5074920"/>
            <a:ext cx="8229600" cy="1508760"/>
          </a:xfrm>
          <a:prstGeom prst="rect">
            <a:avLst/>
          </a:prstGeom>
          <a:solidFill>
            <a:srgbClr val="1E22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5120640"/>
            <a:ext cx="7863840" cy="1417320"/>
          </a:xfrm>
          <a:prstGeom prst="rect">
            <a:avLst/>
          </a:prstGeom>
          <a:noFill/>
        </p:spPr>
        <p:txBody>
          <a:bodyPr wrap="square">
            <a:spAutoFit/>
          </a:bodyPr>
          <a:lstStyle/>
          <a:p>
            <a:pPr algn="l"/>
            <a:r>
              <a:rPr sz="1400" b="0">
                <a:solidFill>
                  <a:srgbClr val="2ECC71"/>
                </a:solidFill>
              </a:rPr>
              <a:t>weight_in   = {4'b1000, 4'b0110, 4'b0011, 4'b0101};
weight_load = 1;   in0=10; in1=20; in2=30; in3=40;
@(posedge clk); #1;  weight_load = 0;
@(posedge clk); #1;  // read out0–out3 here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2F4F6"/>
        </a:solidFill>
        <a:effectLst/>
      </p:bgPr>
    </p:bg>
    <p:spTree>
      <p:nvGrpSpPr>
        <p:cNvPr id="1" name=""/>
        <p:cNvGrpSpPr/>
        <p:nvPr/>
      </p:nvGrpSpPr>
      <p:grpSpPr/>
      <p:sp>
        <p:nvSpPr>
          <p:cNvPr id="2" name="Rectangle 1"/>
          <p:cNvSpPr/>
          <p:nvPr/>
        </p:nvSpPr>
        <p:spPr>
          <a:xfrm>
            <a:off x="0" y="0"/>
            <a:ext cx="12188952" cy="82296"/>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183112" y="6446520"/>
            <a:ext cx="914400" cy="347472"/>
          </a:xfrm>
          <a:prstGeom prst="rect">
            <a:avLst/>
          </a:prstGeom>
          <a:noFill/>
        </p:spPr>
        <p:txBody>
          <a:bodyPr wrap="square">
            <a:spAutoFit/>
          </a:bodyPr>
          <a:lstStyle/>
          <a:p>
            <a:pPr algn="r"/>
            <a:r>
              <a:rPr sz="1300" b="0">
                <a:solidFill>
                  <a:srgbClr val="999999"/>
                </a:solidFill>
              </a:rPr>
              <a:t>6 / 7</a:t>
            </a:r>
          </a:p>
        </p:txBody>
      </p:sp>
      <p:sp>
        <p:nvSpPr>
          <p:cNvPr id="4" name="TextBox 3"/>
          <p:cNvSpPr txBox="1"/>
          <p:nvPr/>
        </p:nvSpPr>
        <p:spPr>
          <a:xfrm>
            <a:off x="457200" y="137160"/>
            <a:ext cx="10972800" cy="594360"/>
          </a:xfrm>
          <a:prstGeom prst="rect">
            <a:avLst/>
          </a:prstGeom>
          <a:noFill/>
        </p:spPr>
        <p:txBody>
          <a:bodyPr wrap="square">
            <a:spAutoFit/>
          </a:bodyPr>
          <a:lstStyle/>
          <a:p>
            <a:pPr algn="l"/>
            <a:r>
              <a:rPr sz="3000" b="1">
                <a:solidFill>
                  <a:srgbClr val="2C3E50"/>
                </a:solidFill>
              </a:rPr>
              <a:t>Simulation Results — iverilog -g2012</a:t>
            </a:r>
          </a:p>
        </p:txBody>
      </p:sp>
      <p:pic>
        <p:nvPicPr>
          <p:cNvPr id="5" name="Picture 4" descr="slide_results.png"/>
          <p:cNvPicPr>
            <a:picLocks noChangeAspect="1"/>
          </p:cNvPicPr>
          <p:nvPr/>
        </p:nvPicPr>
        <p:blipFill>
          <a:blip r:embed="rId2"/>
          <a:stretch>
            <a:fillRect/>
          </a:stretch>
        </p:blipFill>
        <p:spPr>
          <a:xfrm>
            <a:off x="365760" y="822960"/>
            <a:ext cx="7132320" cy="5303520"/>
          </a:xfrm>
          <a:prstGeom prst="rect">
            <a:avLst/>
          </a:prstGeom>
        </p:spPr>
      </p:pic>
      <p:sp>
        <p:nvSpPr>
          <p:cNvPr id="6" name="Rectangle 5"/>
          <p:cNvSpPr/>
          <p:nvPr/>
        </p:nvSpPr>
        <p:spPr>
          <a:xfrm>
            <a:off x="7680960" y="960120"/>
            <a:ext cx="4251960" cy="1188720"/>
          </a:xfrm>
          <a:prstGeom prst="rect">
            <a:avLst/>
          </a:prstGeom>
          <a:solidFill>
            <a:srgbClr val="FFFFFF"/>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18120" y="1033272"/>
            <a:ext cx="3977639" cy="502920"/>
          </a:xfrm>
          <a:prstGeom prst="rect">
            <a:avLst/>
          </a:prstGeom>
          <a:noFill/>
        </p:spPr>
        <p:txBody>
          <a:bodyPr wrap="square">
            <a:spAutoFit/>
          </a:bodyPr>
          <a:lstStyle/>
          <a:p>
            <a:pPr algn="l"/>
            <a:r>
              <a:rPr sz="2600" b="1">
                <a:solidFill>
                  <a:srgbClr val="2C3E50"/>
                </a:solidFill>
              </a:rPr>
              <a:t>out0 = −40</a:t>
            </a:r>
          </a:p>
        </p:txBody>
      </p:sp>
      <p:sp>
        <p:nvSpPr>
          <p:cNvPr id="8" name="TextBox 7"/>
          <p:cNvSpPr txBox="1"/>
          <p:nvPr/>
        </p:nvSpPr>
        <p:spPr>
          <a:xfrm>
            <a:off x="7818120" y="1527048"/>
            <a:ext cx="3977639" cy="457200"/>
          </a:xfrm>
          <a:prstGeom prst="rect">
            <a:avLst/>
          </a:prstGeom>
          <a:noFill/>
        </p:spPr>
        <p:txBody>
          <a:bodyPr wrap="square">
            <a:spAutoFit/>
          </a:bodyPr>
          <a:lstStyle/>
          <a:p>
            <a:pPr algn="l"/>
            <a:r>
              <a:rPr sz="1500" b="0">
                <a:solidFill>
                  <a:srgbClr val="7F8C8D"/>
                </a:solidFill>
              </a:rPr>
              <a:t>+10+20−30−40</a:t>
            </a:r>
          </a:p>
        </p:txBody>
      </p:sp>
      <p:sp>
        <p:nvSpPr>
          <p:cNvPr id="9" name="TextBox 8"/>
          <p:cNvSpPr txBox="1"/>
          <p:nvPr/>
        </p:nvSpPr>
        <p:spPr>
          <a:xfrm>
            <a:off x="9692640" y="1033272"/>
            <a:ext cx="2103120" cy="502920"/>
          </a:xfrm>
          <a:prstGeom prst="rect">
            <a:avLst/>
          </a:prstGeom>
          <a:noFill/>
        </p:spPr>
        <p:txBody>
          <a:bodyPr wrap="square">
            <a:spAutoFit/>
          </a:bodyPr>
          <a:lstStyle/>
          <a:p>
            <a:pPr algn="r"/>
            <a:r>
              <a:rPr sz="2200" b="1">
                <a:solidFill>
                  <a:srgbClr val="27AE60"/>
                </a:solidFill>
              </a:rPr>
              <a:t>✓ PASS</a:t>
            </a:r>
          </a:p>
        </p:txBody>
      </p:sp>
      <p:sp>
        <p:nvSpPr>
          <p:cNvPr id="10" name="Rectangle 9"/>
          <p:cNvSpPr/>
          <p:nvPr/>
        </p:nvSpPr>
        <p:spPr>
          <a:xfrm>
            <a:off x="7680960" y="2331720"/>
            <a:ext cx="4251960" cy="1188720"/>
          </a:xfrm>
          <a:prstGeom prst="rect">
            <a:avLst/>
          </a:prstGeom>
          <a:solidFill>
            <a:srgbClr val="FFFFFF"/>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18120" y="2404872"/>
            <a:ext cx="3977639" cy="502920"/>
          </a:xfrm>
          <a:prstGeom prst="rect">
            <a:avLst/>
          </a:prstGeom>
          <a:noFill/>
        </p:spPr>
        <p:txBody>
          <a:bodyPr wrap="square">
            <a:spAutoFit/>
          </a:bodyPr>
          <a:lstStyle/>
          <a:p>
            <a:pPr algn="l"/>
            <a:r>
              <a:rPr sz="2600" b="1">
                <a:solidFill>
                  <a:srgbClr val="2C3E50"/>
                </a:solidFill>
              </a:rPr>
              <a:t>out1 =   0</a:t>
            </a:r>
          </a:p>
        </p:txBody>
      </p:sp>
      <p:sp>
        <p:nvSpPr>
          <p:cNvPr id="12" name="TextBox 11"/>
          <p:cNvSpPr txBox="1"/>
          <p:nvPr/>
        </p:nvSpPr>
        <p:spPr>
          <a:xfrm>
            <a:off x="7818120" y="2898648"/>
            <a:ext cx="3977639" cy="457200"/>
          </a:xfrm>
          <a:prstGeom prst="rect">
            <a:avLst/>
          </a:prstGeom>
          <a:noFill/>
        </p:spPr>
        <p:txBody>
          <a:bodyPr wrap="square">
            <a:spAutoFit/>
          </a:bodyPr>
          <a:lstStyle/>
          <a:p>
            <a:pPr algn="l"/>
            <a:r>
              <a:rPr sz="1500" b="0">
                <a:solidFill>
                  <a:srgbClr val="7F8C8D"/>
                </a:solidFill>
              </a:rPr>
              <a:t>−10+20+30−40</a:t>
            </a:r>
          </a:p>
        </p:txBody>
      </p:sp>
      <p:sp>
        <p:nvSpPr>
          <p:cNvPr id="13" name="TextBox 12"/>
          <p:cNvSpPr txBox="1"/>
          <p:nvPr/>
        </p:nvSpPr>
        <p:spPr>
          <a:xfrm>
            <a:off x="9692640" y="2404872"/>
            <a:ext cx="2103120" cy="502920"/>
          </a:xfrm>
          <a:prstGeom prst="rect">
            <a:avLst/>
          </a:prstGeom>
          <a:noFill/>
        </p:spPr>
        <p:txBody>
          <a:bodyPr wrap="square">
            <a:spAutoFit/>
          </a:bodyPr>
          <a:lstStyle/>
          <a:p>
            <a:pPr algn="r"/>
            <a:r>
              <a:rPr sz="2200" b="1">
                <a:solidFill>
                  <a:srgbClr val="27AE60"/>
                </a:solidFill>
              </a:rPr>
              <a:t>✓ PASS</a:t>
            </a:r>
          </a:p>
        </p:txBody>
      </p:sp>
      <p:sp>
        <p:nvSpPr>
          <p:cNvPr id="14" name="Rectangle 13"/>
          <p:cNvSpPr/>
          <p:nvPr/>
        </p:nvSpPr>
        <p:spPr>
          <a:xfrm>
            <a:off x="7680960" y="3703320"/>
            <a:ext cx="4251960" cy="1188720"/>
          </a:xfrm>
          <a:prstGeom prst="rect">
            <a:avLst/>
          </a:prstGeom>
          <a:solidFill>
            <a:srgbClr val="FFFFFF"/>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18120" y="3776472"/>
            <a:ext cx="3977639" cy="502920"/>
          </a:xfrm>
          <a:prstGeom prst="rect">
            <a:avLst/>
          </a:prstGeom>
          <a:noFill/>
        </p:spPr>
        <p:txBody>
          <a:bodyPr wrap="square">
            <a:spAutoFit/>
          </a:bodyPr>
          <a:lstStyle/>
          <a:p>
            <a:pPr algn="l"/>
            <a:r>
              <a:rPr sz="2600" b="1">
                <a:solidFill>
                  <a:srgbClr val="2C3E50"/>
                </a:solidFill>
              </a:rPr>
              <a:t>out2 = −20</a:t>
            </a:r>
          </a:p>
        </p:txBody>
      </p:sp>
      <p:sp>
        <p:nvSpPr>
          <p:cNvPr id="16" name="TextBox 15"/>
          <p:cNvSpPr txBox="1"/>
          <p:nvPr/>
        </p:nvSpPr>
        <p:spPr>
          <a:xfrm>
            <a:off x="7818120" y="4270248"/>
            <a:ext cx="3977639" cy="457200"/>
          </a:xfrm>
          <a:prstGeom prst="rect">
            <a:avLst/>
          </a:prstGeom>
          <a:noFill/>
        </p:spPr>
        <p:txBody>
          <a:bodyPr wrap="square">
            <a:spAutoFit/>
          </a:bodyPr>
          <a:lstStyle/>
          <a:p>
            <a:pPr algn="l"/>
            <a:r>
              <a:rPr sz="1500" b="0">
                <a:solidFill>
                  <a:srgbClr val="7F8C8D"/>
                </a:solidFill>
              </a:rPr>
              <a:t>+10−20+30−40</a:t>
            </a:r>
          </a:p>
        </p:txBody>
      </p:sp>
      <p:sp>
        <p:nvSpPr>
          <p:cNvPr id="17" name="TextBox 16"/>
          <p:cNvSpPr txBox="1"/>
          <p:nvPr/>
        </p:nvSpPr>
        <p:spPr>
          <a:xfrm>
            <a:off x="9692640" y="3776472"/>
            <a:ext cx="2103120" cy="502920"/>
          </a:xfrm>
          <a:prstGeom prst="rect">
            <a:avLst/>
          </a:prstGeom>
          <a:noFill/>
        </p:spPr>
        <p:txBody>
          <a:bodyPr wrap="square">
            <a:spAutoFit/>
          </a:bodyPr>
          <a:lstStyle/>
          <a:p>
            <a:pPr algn="r"/>
            <a:r>
              <a:rPr sz="2200" b="1">
                <a:solidFill>
                  <a:srgbClr val="27AE60"/>
                </a:solidFill>
              </a:rPr>
              <a:t>✓ PASS</a:t>
            </a:r>
          </a:p>
        </p:txBody>
      </p:sp>
      <p:sp>
        <p:nvSpPr>
          <p:cNvPr id="18" name="Rectangle 17"/>
          <p:cNvSpPr/>
          <p:nvPr/>
        </p:nvSpPr>
        <p:spPr>
          <a:xfrm>
            <a:off x="7680960" y="5074920"/>
            <a:ext cx="4251960" cy="1188720"/>
          </a:xfrm>
          <a:prstGeom prst="rect">
            <a:avLst/>
          </a:prstGeom>
          <a:solidFill>
            <a:srgbClr val="FFFFFF"/>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18120" y="5148072"/>
            <a:ext cx="3977639" cy="502920"/>
          </a:xfrm>
          <a:prstGeom prst="rect">
            <a:avLst/>
          </a:prstGeom>
          <a:noFill/>
        </p:spPr>
        <p:txBody>
          <a:bodyPr wrap="square">
            <a:spAutoFit/>
          </a:bodyPr>
          <a:lstStyle/>
          <a:p>
            <a:pPr algn="l"/>
            <a:r>
              <a:rPr sz="2600" b="1">
                <a:solidFill>
                  <a:srgbClr val="2C3E50"/>
                </a:solidFill>
              </a:rPr>
              <a:t>out3 = −20</a:t>
            </a:r>
          </a:p>
        </p:txBody>
      </p:sp>
      <p:sp>
        <p:nvSpPr>
          <p:cNvPr id="20" name="TextBox 19"/>
          <p:cNvSpPr txBox="1"/>
          <p:nvPr/>
        </p:nvSpPr>
        <p:spPr>
          <a:xfrm>
            <a:off x="7818120" y="5641848"/>
            <a:ext cx="3977639" cy="457200"/>
          </a:xfrm>
          <a:prstGeom prst="rect">
            <a:avLst/>
          </a:prstGeom>
          <a:noFill/>
        </p:spPr>
        <p:txBody>
          <a:bodyPr wrap="square">
            <a:spAutoFit/>
          </a:bodyPr>
          <a:lstStyle/>
          <a:p>
            <a:pPr algn="l"/>
            <a:r>
              <a:rPr sz="1500" b="0">
                <a:solidFill>
                  <a:srgbClr val="7F8C8D"/>
                </a:solidFill>
              </a:rPr>
              <a:t>−10−20−30+40</a:t>
            </a:r>
          </a:p>
        </p:txBody>
      </p:sp>
      <p:sp>
        <p:nvSpPr>
          <p:cNvPr id="21" name="TextBox 20"/>
          <p:cNvSpPr txBox="1"/>
          <p:nvPr/>
        </p:nvSpPr>
        <p:spPr>
          <a:xfrm>
            <a:off x="9692640" y="5148072"/>
            <a:ext cx="2103120" cy="502920"/>
          </a:xfrm>
          <a:prstGeom prst="rect">
            <a:avLst/>
          </a:prstGeom>
          <a:noFill/>
        </p:spPr>
        <p:txBody>
          <a:bodyPr wrap="square">
            <a:spAutoFit/>
          </a:bodyPr>
          <a:lstStyle/>
          <a:p>
            <a:pPr algn="r"/>
            <a:r>
              <a:rPr sz="2200" b="1">
                <a:solidFill>
                  <a:srgbClr val="27AE60"/>
                </a:solidFill>
              </a:rPr>
              <a:t>✓ PASS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E2229"/>
        </a:solidFill>
        <a:effectLst/>
      </p:bgPr>
    </p:bg>
    <p:spTree>
      <p:nvGrpSpPr>
        <p:cNvPr id="1" name=""/>
        <p:cNvGrpSpPr/>
        <p:nvPr/>
      </p:nvGrpSpPr>
      <p:grpSpPr/>
      <p:sp>
        <p:nvSpPr>
          <p:cNvPr id="2" name="Rectangle 1"/>
          <p:cNvSpPr/>
          <p:nvPr/>
        </p:nvSpPr>
        <p:spPr>
          <a:xfrm>
            <a:off x="0" y="0"/>
            <a:ext cx="12188952" cy="82296"/>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183112" y="6446520"/>
            <a:ext cx="914400" cy="347472"/>
          </a:xfrm>
          <a:prstGeom prst="rect">
            <a:avLst/>
          </a:prstGeom>
          <a:noFill/>
        </p:spPr>
        <p:txBody>
          <a:bodyPr wrap="square">
            <a:spAutoFit/>
          </a:bodyPr>
          <a:lstStyle/>
          <a:p>
            <a:pPr algn="r"/>
            <a:r>
              <a:rPr sz="1300" b="0">
                <a:solidFill>
                  <a:srgbClr val="999999"/>
                </a:solidFill>
              </a:rPr>
              <a:t>7 / 7</a:t>
            </a:r>
          </a:p>
        </p:txBody>
      </p:sp>
      <p:sp>
        <p:nvSpPr>
          <p:cNvPr id="4" name="TextBox 3"/>
          <p:cNvSpPr txBox="1"/>
          <p:nvPr/>
        </p:nvSpPr>
        <p:spPr>
          <a:xfrm>
            <a:off x="914400" y="365760"/>
            <a:ext cx="10332720" cy="594360"/>
          </a:xfrm>
          <a:prstGeom prst="rect">
            <a:avLst/>
          </a:prstGeom>
          <a:noFill/>
        </p:spPr>
        <p:txBody>
          <a:bodyPr wrap="square">
            <a:spAutoFit/>
          </a:bodyPr>
          <a:lstStyle/>
          <a:p>
            <a:pPr algn="ctr"/>
            <a:r>
              <a:rPr sz="3600" b="1">
                <a:solidFill>
                  <a:srgbClr val="008B8B"/>
                </a:solidFill>
              </a:rPr>
              <a:t>Summary</a:t>
            </a:r>
          </a:p>
        </p:txBody>
      </p:sp>
      <p:sp>
        <p:nvSpPr>
          <p:cNvPr id="5" name="Rectangle 4"/>
          <p:cNvSpPr/>
          <p:nvPr/>
        </p:nvSpPr>
        <p:spPr>
          <a:xfrm>
            <a:off x="731520" y="1325880"/>
            <a:ext cx="10698480" cy="731520"/>
          </a:xfrm>
          <a:prstGeom prst="rect">
            <a:avLst/>
          </a:prstGeom>
          <a:solidFill>
            <a:srgbClr val="252C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399032"/>
            <a:ext cx="457200" cy="594360"/>
          </a:xfrm>
          <a:prstGeom prst="rect">
            <a:avLst/>
          </a:prstGeom>
          <a:noFill/>
        </p:spPr>
        <p:txBody>
          <a:bodyPr wrap="square">
            <a:spAutoFit/>
          </a:bodyPr>
          <a:lstStyle/>
          <a:p>
            <a:pPr algn="l"/>
            <a:r>
              <a:rPr sz="2600" b="1">
                <a:solidFill>
                  <a:srgbClr val="008B8B"/>
                </a:solidFill>
              </a:rPr>
              <a:t>✓</a:t>
            </a:r>
          </a:p>
        </p:txBody>
      </p:sp>
      <p:sp>
        <p:nvSpPr>
          <p:cNvPr id="7" name="TextBox 6"/>
          <p:cNvSpPr txBox="1"/>
          <p:nvPr/>
        </p:nvSpPr>
        <p:spPr>
          <a:xfrm>
            <a:off x="1417320" y="1435608"/>
            <a:ext cx="9875520" cy="530352"/>
          </a:xfrm>
          <a:prstGeom prst="rect">
            <a:avLst/>
          </a:prstGeom>
          <a:noFill/>
        </p:spPr>
        <p:txBody>
          <a:bodyPr wrap="square">
            <a:spAutoFit/>
          </a:bodyPr>
          <a:lstStyle/>
          <a:p>
            <a:pPr algn="l"/>
            <a:r>
              <a:rPr sz="2000" b="0">
                <a:solidFill>
                  <a:srgbClr val="FFFFFF"/>
                </a:solidFill>
              </a:rPr>
              <a:t>LLM-generated crossbar_mac.sv using Claude Sonnet 4.6</a:t>
            </a:r>
          </a:p>
        </p:txBody>
      </p:sp>
      <p:sp>
        <p:nvSpPr>
          <p:cNvPr id="8" name="Rectangle 7"/>
          <p:cNvSpPr/>
          <p:nvPr/>
        </p:nvSpPr>
        <p:spPr>
          <a:xfrm>
            <a:off x="731520" y="2221991"/>
            <a:ext cx="10698480" cy="731520"/>
          </a:xfrm>
          <a:prstGeom prst="rect">
            <a:avLst/>
          </a:prstGeom>
          <a:solidFill>
            <a:srgbClr val="252C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295143"/>
            <a:ext cx="457200" cy="594360"/>
          </a:xfrm>
          <a:prstGeom prst="rect">
            <a:avLst/>
          </a:prstGeom>
          <a:noFill/>
        </p:spPr>
        <p:txBody>
          <a:bodyPr wrap="square">
            <a:spAutoFit/>
          </a:bodyPr>
          <a:lstStyle/>
          <a:p>
            <a:pPr algn="l"/>
            <a:r>
              <a:rPr sz="2600" b="1">
                <a:solidFill>
                  <a:srgbClr val="E67E22"/>
                </a:solidFill>
              </a:rPr>
              <a:t>✓</a:t>
            </a:r>
          </a:p>
        </p:txBody>
      </p:sp>
      <p:sp>
        <p:nvSpPr>
          <p:cNvPr id="10" name="TextBox 9"/>
          <p:cNvSpPr txBox="1"/>
          <p:nvPr/>
        </p:nvSpPr>
        <p:spPr>
          <a:xfrm>
            <a:off x="1417320" y="2331719"/>
            <a:ext cx="9875520" cy="530352"/>
          </a:xfrm>
          <a:prstGeom prst="rect">
            <a:avLst/>
          </a:prstGeom>
          <a:noFill/>
        </p:spPr>
        <p:txBody>
          <a:bodyPr wrap="square">
            <a:spAutoFit/>
          </a:bodyPr>
          <a:lstStyle/>
          <a:p>
            <a:pPr algn="l"/>
            <a:r>
              <a:rPr sz="2000" b="0">
                <a:solidFill>
                  <a:srgbClr val="FFFFFF"/>
                </a:solidFill>
              </a:rPr>
              <a:t>16-bit flat weight register — bit (4i+j) encodes weight[i][j]</a:t>
            </a:r>
          </a:p>
        </p:txBody>
      </p:sp>
      <p:sp>
        <p:nvSpPr>
          <p:cNvPr id="11" name="Rectangle 10"/>
          <p:cNvSpPr/>
          <p:nvPr/>
        </p:nvSpPr>
        <p:spPr>
          <a:xfrm>
            <a:off x="731520" y="3118104"/>
            <a:ext cx="10698480" cy="731520"/>
          </a:xfrm>
          <a:prstGeom prst="rect">
            <a:avLst/>
          </a:prstGeom>
          <a:solidFill>
            <a:srgbClr val="252C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191256"/>
            <a:ext cx="457200" cy="594360"/>
          </a:xfrm>
          <a:prstGeom prst="rect">
            <a:avLst/>
          </a:prstGeom>
          <a:noFill/>
        </p:spPr>
        <p:txBody>
          <a:bodyPr wrap="square">
            <a:spAutoFit/>
          </a:bodyPr>
          <a:lstStyle/>
          <a:p>
            <a:pPr algn="l"/>
            <a:r>
              <a:rPr sz="2600" b="1">
                <a:solidFill>
                  <a:srgbClr val="3498DB"/>
                </a:solidFill>
              </a:rPr>
              <a:t>✓</a:t>
            </a:r>
          </a:p>
        </p:txBody>
      </p:sp>
      <p:sp>
        <p:nvSpPr>
          <p:cNvPr id="13" name="TextBox 12"/>
          <p:cNvSpPr txBox="1"/>
          <p:nvPr/>
        </p:nvSpPr>
        <p:spPr>
          <a:xfrm>
            <a:off x="1417320" y="3227832"/>
            <a:ext cx="9875520" cy="530352"/>
          </a:xfrm>
          <a:prstGeom prst="rect">
            <a:avLst/>
          </a:prstGeom>
          <a:noFill/>
        </p:spPr>
        <p:txBody>
          <a:bodyPr wrap="square">
            <a:spAutoFit/>
          </a:bodyPr>
          <a:lstStyle/>
          <a:p>
            <a:pPr algn="l"/>
            <a:r>
              <a:rPr sz="2000" b="0">
                <a:solidFill>
                  <a:srgbClr val="FFFFFF"/>
                </a:solidFill>
              </a:rPr>
              <a:t>Fully combinational MAC, registered outputs, 10-bit signed</a:t>
            </a:r>
          </a:p>
        </p:txBody>
      </p:sp>
      <p:sp>
        <p:nvSpPr>
          <p:cNvPr id="14" name="Rectangle 13"/>
          <p:cNvSpPr/>
          <p:nvPr/>
        </p:nvSpPr>
        <p:spPr>
          <a:xfrm>
            <a:off x="731520" y="4014215"/>
            <a:ext cx="10698480" cy="731520"/>
          </a:xfrm>
          <a:prstGeom prst="rect">
            <a:avLst/>
          </a:prstGeom>
          <a:solidFill>
            <a:srgbClr val="252C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4087367"/>
            <a:ext cx="457200" cy="594360"/>
          </a:xfrm>
          <a:prstGeom prst="rect">
            <a:avLst/>
          </a:prstGeom>
          <a:noFill/>
        </p:spPr>
        <p:txBody>
          <a:bodyPr wrap="square">
            <a:spAutoFit/>
          </a:bodyPr>
          <a:lstStyle/>
          <a:p>
            <a:pPr algn="l"/>
            <a:r>
              <a:rPr sz="2600" b="1">
                <a:solidFill>
                  <a:srgbClr val="8E44AD"/>
                </a:solidFill>
              </a:rPr>
              <a:t>✓</a:t>
            </a:r>
          </a:p>
        </p:txBody>
      </p:sp>
      <p:sp>
        <p:nvSpPr>
          <p:cNvPr id="16" name="TextBox 15"/>
          <p:cNvSpPr txBox="1"/>
          <p:nvPr/>
        </p:nvSpPr>
        <p:spPr>
          <a:xfrm>
            <a:off x="1417320" y="4123943"/>
            <a:ext cx="9875520" cy="530352"/>
          </a:xfrm>
          <a:prstGeom prst="rect">
            <a:avLst/>
          </a:prstGeom>
          <a:noFill/>
        </p:spPr>
        <p:txBody>
          <a:bodyPr wrap="square">
            <a:spAutoFit/>
          </a:bodyPr>
          <a:lstStyle/>
          <a:p>
            <a:pPr algn="l"/>
            <a:r>
              <a:rPr sz="2000" b="0">
                <a:solidFill>
                  <a:srgbClr val="FFFFFF"/>
                </a:solidFill>
              </a:rPr>
              <a:t>Testbench loads [[1,−1,1,−1],[1,1,−1,−1],[−1,1,1,−1],[−1,−1,−1,1]]</a:t>
            </a:r>
          </a:p>
        </p:txBody>
      </p:sp>
      <p:sp>
        <p:nvSpPr>
          <p:cNvPr id="17" name="Rectangle 16"/>
          <p:cNvSpPr/>
          <p:nvPr/>
        </p:nvSpPr>
        <p:spPr>
          <a:xfrm>
            <a:off x="731520" y="4910328"/>
            <a:ext cx="10698480" cy="731520"/>
          </a:xfrm>
          <a:prstGeom prst="rect">
            <a:avLst/>
          </a:prstGeom>
          <a:solidFill>
            <a:srgbClr val="252C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4983480"/>
            <a:ext cx="457200" cy="594360"/>
          </a:xfrm>
          <a:prstGeom prst="rect">
            <a:avLst/>
          </a:prstGeom>
          <a:noFill/>
        </p:spPr>
        <p:txBody>
          <a:bodyPr wrap="square">
            <a:spAutoFit/>
          </a:bodyPr>
          <a:lstStyle/>
          <a:p>
            <a:pPr algn="l"/>
            <a:r>
              <a:rPr sz="2600" b="1">
                <a:solidFill>
                  <a:srgbClr val="27AE60"/>
                </a:solidFill>
              </a:rPr>
              <a:t>✓</a:t>
            </a:r>
          </a:p>
        </p:txBody>
      </p:sp>
      <p:sp>
        <p:nvSpPr>
          <p:cNvPr id="19" name="TextBox 18"/>
          <p:cNvSpPr txBox="1"/>
          <p:nvPr/>
        </p:nvSpPr>
        <p:spPr>
          <a:xfrm>
            <a:off x="1417320" y="5020056"/>
            <a:ext cx="9875520" cy="530352"/>
          </a:xfrm>
          <a:prstGeom prst="rect">
            <a:avLst/>
          </a:prstGeom>
          <a:noFill/>
        </p:spPr>
        <p:txBody>
          <a:bodyPr wrap="square">
            <a:spAutoFit/>
          </a:bodyPr>
          <a:lstStyle/>
          <a:p>
            <a:pPr algn="l"/>
            <a:r>
              <a:rPr sz="2000" b="0">
                <a:solidFill>
                  <a:srgbClr val="FFFFFF"/>
                </a:solidFill>
              </a:rPr>
              <a:t>Inputs [10,20,30,40] → Simulation: 4/4 PASS  [−40, 0, −20, −20]</a:t>
            </a:r>
          </a:p>
        </p:txBody>
      </p:sp>
      <p:sp>
        <p:nvSpPr>
          <p:cNvPr id="20" name="TextBox 19"/>
          <p:cNvSpPr txBox="1"/>
          <p:nvPr/>
        </p:nvSpPr>
        <p:spPr>
          <a:xfrm>
            <a:off x="914400" y="6126480"/>
            <a:ext cx="10332720" cy="502920"/>
          </a:xfrm>
          <a:prstGeom prst="rect">
            <a:avLst/>
          </a:prstGeom>
          <a:noFill/>
        </p:spPr>
        <p:txBody>
          <a:bodyPr wrap="square">
            <a:spAutoFit/>
          </a:bodyPr>
          <a:lstStyle/>
          <a:p>
            <a:pPr algn="ctr"/>
            <a:r>
              <a:rPr sz="2400" b="1">
                <a:solidFill>
                  <a:srgbClr val="AAAAAA"/>
                </a:solidFill>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